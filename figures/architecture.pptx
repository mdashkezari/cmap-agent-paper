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6858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9"/>
    <p:restoredTop sz="94694"/>
  </p:normalViewPr>
  <p:slideViewPr>
    <p:cSldViewPr snapToGrid="0">
      <p:cViewPr>
        <p:scale>
          <a:sx n="134" d="100"/>
          <a:sy n="134" d="100"/>
        </p:scale>
        <p:origin x="15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46836"/>
            <a:ext cx="5829300" cy="28651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322446"/>
            <a:ext cx="5143500" cy="198691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4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3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051688"/>
            <a:ext cx="5915025" cy="342328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507358"/>
            <a:ext cx="5915025" cy="180022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6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9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38152"/>
            <a:ext cx="591502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017396"/>
            <a:ext cx="2901255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006090"/>
            <a:ext cx="290125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017396"/>
            <a:ext cx="2915543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006090"/>
            <a:ext cx="291554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4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1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0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84912"/>
            <a:ext cx="3471863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2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84912"/>
            <a:ext cx="3471863" cy="584835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1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38150"/>
            <a:ext cx="1478756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38150"/>
            <a:ext cx="4350544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9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38152"/>
            <a:ext cx="591502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90750"/>
            <a:ext cx="591502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0F418-66B8-DB45-AF68-4A1613FFA1EB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627622"/>
            <a:ext cx="231457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3887D-9A8A-CB46-AAD8-7C9674F4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0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EFC8296E-B1B2-5293-AEBE-D9C933EBB41E}"/>
              </a:ext>
            </a:extLst>
          </p:cNvPr>
          <p:cNvSpPr/>
          <p:nvPr/>
        </p:nvSpPr>
        <p:spPr>
          <a:xfrm>
            <a:off x="2286000" y="571500"/>
            <a:ext cx="2286000" cy="685800"/>
          </a:xfrm>
          <a:custGeom>
            <a:avLst/>
            <a:gdLst>
              <a:gd name="csX0" fmla="*/ 2171700 w 2286000"/>
              <a:gd name="csY0" fmla="*/ 0 h 685800"/>
              <a:gd name="csX1" fmla="*/ 2286000 w 2286000"/>
              <a:gd name="csY1" fmla="*/ 0 h 685800"/>
              <a:gd name="csX2" fmla="*/ 2286000 w 2286000"/>
              <a:gd name="csY2" fmla="*/ 685800 h 685800"/>
              <a:gd name="csX3" fmla="*/ 2171700 w 2286000"/>
              <a:gd name="csY3" fmla="*/ 685800 h 685800"/>
              <a:gd name="csX4" fmla="*/ 114300 w 2286000"/>
              <a:gd name="csY4" fmla="*/ 685800 h 685800"/>
              <a:gd name="csX5" fmla="*/ 0 w 2286000"/>
              <a:gd name="csY5" fmla="*/ 685800 h 685800"/>
              <a:gd name="csX6" fmla="*/ 0 w 2286000"/>
              <a:gd name="csY6" fmla="*/ 0 h 685800"/>
              <a:gd name="csX7" fmla="*/ 114300 w 2286000"/>
              <a:gd name="csY7" fmla="*/ 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86000" h="685800">
                <a:moveTo>
                  <a:pt x="2171700" y="0"/>
                </a:moveTo>
                <a:cubicBezTo>
                  <a:pt x="2234826" y="0"/>
                  <a:pt x="2286000" y="0"/>
                  <a:pt x="2286000" y="0"/>
                </a:cubicBezTo>
                <a:lnTo>
                  <a:pt x="2286000" y="685800"/>
                </a:lnTo>
                <a:cubicBezTo>
                  <a:pt x="2286000" y="685800"/>
                  <a:pt x="2234826" y="685800"/>
                  <a:pt x="2171700" y="685800"/>
                </a:cubicBezTo>
                <a:lnTo>
                  <a:pt x="114300" y="685800"/>
                </a:lnTo>
                <a:cubicBezTo>
                  <a:pt x="51174" y="685800"/>
                  <a:pt x="0" y="685800"/>
                  <a:pt x="0" y="685800"/>
                </a:cubicBezTo>
                <a:lnTo>
                  <a:pt x="0" y="0"/>
                </a:lnTo>
                <a:cubicBezTo>
                  <a:pt x="0" y="0"/>
                  <a:pt x="51174" y="0"/>
                  <a:pt x="114300" y="0"/>
                </a:cubicBezTo>
                <a:close/>
              </a:path>
            </a:pathLst>
          </a:custGeom>
          <a:solidFill>
            <a:srgbClr val="F1EFE8"/>
          </a:solidFill>
          <a:ln w="4763" cap="flat">
            <a:solidFill>
              <a:srgbClr val="5F5E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82C1844-3C4F-D451-9D33-E94D78EA4AB4}"/>
              </a:ext>
            </a:extLst>
          </p:cNvPr>
          <p:cNvGrpSpPr/>
          <p:nvPr/>
        </p:nvGrpSpPr>
        <p:grpSpPr>
          <a:xfrm>
            <a:off x="7524300" y="687156"/>
            <a:ext cx="257625" cy="301069"/>
            <a:chOff x="2681916" y="747049"/>
            <a:chExt cx="257625" cy="301069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59032BF-E3B6-4865-9BF2-68DD57AEF35A}"/>
                </a:ext>
              </a:extLst>
            </p:cNvPr>
            <p:cNvSpPr/>
            <p:nvPr/>
          </p:nvSpPr>
          <p:spPr>
            <a:xfrm>
              <a:off x="2739166" y="747049"/>
              <a:ext cx="143125" cy="143125"/>
            </a:xfrm>
            <a:custGeom>
              <a:avLst/>
              <a:gdLst>
                <a:gd name="csX0" fmla="*/ 190500 w 190500"/>
                <a:gd name="csY0" fmla="*/ 95250 h 190500"/>
                <a:gd name="csX1" fmla="*/ 95250 w 190500"/>
                <a:gd name="csY1" fmla="*/ 190500 h 190500"/>
                <a:gd name="csX2" fmla="*/ 0 w 190500"/>
                <a:gd name="csY2" fmla="*/ 95250 h 190500"/>
                <a:gd name="csX3" fmla="*/ 95250 w 190500"/>
                <a:gd name="csY3" fmla="*/ 0 h 190500"/>
                <a:gd name="csX4" fmla="*/ 190500 w 190500"/>
                <a:gd name="csY4" fmla="*/ 95250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500" h="190500">
                  <a:moveTo>
                    <a:pt x="190500" y="95250"/>
                  </a:move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cubicBezTo>
                    <a:pt x="0" y="42645"/>
                    <a:pt x="42645" y="0"/>
                    <a:pt x="95250" y="0"/>
                  </a:cubicBezTo>
                  <a:cubicBezTo>
                    <a:pt x="147855" y="0"/>
                    <a:pt x="190500" y="42645"/>
                    <a:pt x="190500" y="95250"/>
                  </a:cubicBezTo>
                  <a:close/>
                </a:path>
              </a:pathLst>
            </a:custGeom>
            <a:solidFill>
              <a:srgbClr val="F1EFE8"/>
            </a:solidFill>
            <a:ln w="13335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82E7354-76F0-A6C0-4AC4-F992139D99C7}"/>
                </a:ext>
              </a:extLst>
            </p:cNvPr>
            <p:cNvSpPr/>
            <p:nvPr/>
          </p:nvSpPr>
          <p:spPr>
            <a:xfrm>
              <a:off x="2681916" y="919304"/>
              <a:ext cx="257625" cy="128814"/>
            </a:xfrm>
            <a:custGeom>
              <a:avLst/>
              <a:gdLst>
                <a:gd name="csX0" fmla="*/ 0 w 342900"/>
                <a:gd name="csY0" fmla="*/ 171450 h 171450"/>
                <a:gd name="csX1" fmla="*/ 171450 w 342900"/>
                <a:gd name="csY1" fmla="*/ 0 h 171450"/>
                <a:gd name="csX2" fmla="*/ 342900 w 342900"/>
                <a:gd name="csY2" fmla="*/ 17145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42900" h="171450">
                  <a:moveTo>
                    <a:pt x="0" y="171450"/>
                  </a:moveTo>
                  <a:cubicBezTo>
                    <a:pt x="0" y="57150"/>
                    <a:pt x="57150" y="0"/>
                    <a:pt x="171450" y="0"/>
                  </a:cubicBezTo>
                  <a:cubicBezTo>
                    <a:pt x="285750" y="0"/>
                    <a:pt x="342900" y="57150"/>
                    <a:pt x="342900" y="171450"/>
                  </a:cubicBezTo>
                </a:path>
              </a:pathLst>
            </a:custGeom>
            <a:noFill/>
            <a:ln w="13335" cap="rnd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DA0E54-32B6-0781-A29D-87D3CAE1D21B}"/>
              </a:ext>
            </a:extLst>
          </p:cNvPr>
          <p:cNvSpPr txBox="1"/>
          <p:nvPr/>
        </p:nvSpPr>
        <p:spPr>
          <a:xfrm>
            <a:off x="3491164" y="629531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>
                <a:ln/>
                <a:solidFill>
                  <a:srgbClr val="444441"/>
                </a:solidFill>
                <a:latin typeface="Segoe UI"/>
                <a:cs typeface="Segoe UI"/>
                <a:sym typeface="Segoe UI"/>
                <a:rtl val="0"/>
              </a:rPr>
              <a:t>User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A6610-08D5-EADF-03F9-D32684A8D748}"/>
              </a:ext>
            </a:extLst>
          </p:cNvPr>
          <p:cNvSpPr txBox="1"/>
          <p:nvPr/>
        </p:nvSpPr>
        <p:spPr>
          <a:xfrm>
            <a:off x="3021197" y="821538"/>
            <a:ext cx="14029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5F5E5A"/>
                </a:solidFill>
                <a:latin typeface="Segoe UI"/>
                <a:cs typeface="Segoe UI"/>
                <a:sym typeface="Segoe UI"/>
                <a:rtl val="0"/>
              </a:rPr>
              <a:t>Natural-language query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208765F-022E-EA68-4268-FF04FFEE34DE}"/>
              </a:ext>
            </a:extLst>
          </p:cNvPr>
          <p:cNvSpPr/>
          <p:nvPr/>
        </p:nvSpPr>
        <p:spPr>
          <a:xfrm>
            <a:off x="3429003" y="1257300"/>
            <a:ext cx="9525" cy="304800"/>
          </a:xfrm>
          <a:custGeom>
            <a:avLst/>
            <a:gdLst>
              <a:gd name="csX0" fmla="*/ 0 w 9525"/>
              <a:gd name="csY0" fmla="*/ 0 h 304800"/>
              <a:gd name="csX1" fmla="*/ 0 w 9525"/>
              <a:gd name="csY1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66C6125-46D5-B614-AC9F-70174FFA83B8}"/>
              </a:ext>
            </a:extLst>
          </p:cNvPr>
          <p:cNvSpPr/>
          <p:nvPr/>
        </p:nvSpPr>
        <p:spPr>
          <a:xfrm>
            <a:off x="3257553" y="1257300"/>
            <a:ext cx="9525" cy="304800"/>
          </a:xfrm>
          <a:custGeom>
            <a:avLst/>
            <a:gdLst>
              <a:gd name="csX0" fmla="*/ 0 w 9525"/>
              <a:gd name="csY0" fmla="*/ 304800 h 304800"/>
              <a:gd name="csX1" fmla="*/ 0 w 9525"/>
              <a:gd name="csY1" fmla="*/ 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0A41FD8-C583-CD39-F07C-3EF99658D7B8}"/>
              </a:ext>
            </a:extLst>
          </p:cNvPr>
          <p:cNvSpPr/>
          <p:nvPr/>
        </p:nvSpPr>
        <p:spPr>
          <a:xfrm>
            <a:off x="1714500" y="1562100"/>
            <a:ext cx="3429000" cy="685800"/>
          </a:xfrm>
          <a:custGeom>
            <a:avLst/>
            <a:gdLst>
              <a:gd name="csX0" fmla="*/ 3314700 w 3429000"/>
              <a:gd name="csY0" fmla="*/ 0 h 685800"/>
              <a:gd name="csX1" fmla="*/ 3429000 w 3429000"/>
              <a:gd name="csY1" fmla="*/ 0 h 685800"/>
              <a:gd name="csX2" fmla="*/ 3429000 w 3429000"/>
              <a:gd name="csY2" fmla="*/ 685800 h 685800"/>
              <a:gd name="csX3" fmla="*/ 3314700 w 3429000"/>
              <a:gd name="csY3" fmla="*/ 685800 h 685800"/>
              <a:gd name="csX4" fmla="*/ 114300 w 3429000"/>
              <a:gd name="csY4" fmla="*/ 685800 h 685800"/>
              <a:gd name="csX5" fmla="*/ 0 w 3429000"/>
              <a:gd name="csY5" fmla="*/ 685800 h 685800"/>
              <a:gd name="csX6" fmla="*/ 0 w 3429000"/>
              <a:gd name="csY6" fmla="*/ 0 h 685800"/>
              <a:gd name="csX7" fmla="*/ 114300 w 3429000"/>
              <a:gd name="csY7" fmla="*/ 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29000" h="685800">
                <a:moveTo>
                  <a:pt x="3314700" y="0"/>
                </a:moveTo>
                <a:cubicBezTo>
                  <a:pt x="3377827" y="0"/>
                  <a:pt x="3429000" y="0"/>
                  <a:pt x="3429000" y="0"/>
                </a:cubicBezTo>
                <a:lnTo>
                  <a:pt x="3429000" y="685800"/>
                </a:lnTo>
                <a:cubicBezTo>
                  <a:pt x="3429000" y="685800"/>
                  <a:pt x="3377827" y="685800"/>
                  <a:pt x="3314700" y="685800"/>
                </a:cubicBezTo>
                <a:lnTo>
                  <a:pt x="114300" y="685800"/>
                </a:lnTo>
                <a:cubicBezTo>
                  <a:pt x="51174" y="685800"/>
                  <a:pt x="0" y="685800"/>
                  <a:pt x="0" y="685800"/>
                </a:cubicBezTo>
                <a:lnTo>
                  <a:pt x="0" y="0"/>
                </a:lnTo>
                <a:cubicBezTo>
                  <a:pt x="0" y="0"/>
                  <a:pt x="51174" y="0"/>
                  <a:pt x="114300" y="0"/>
                </a:cubicBezTo>
                <a:close/>
              </a:path>
            </a:pathLst>
          </a:custGeom>
          <a:solidFill>
            <a:srgbClr val="F1EFE8"/>
          </a:solidFill>
          <a:ln w="4763" cap="flat">
            <a:solidFill>
              <a:srgbClr val="5F5E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EBE5D-61D4-47B2-7F48-6F303A5A13DB}"/>
              </a:ext>
            </a:extLst>
          </p:cNvPr>
          <p:cNvGrpSpPr/>
          <p:nvPr/>
        </p:nvGrpSpPr>
        <p:grpSpPr>
          <a:xfrm>
            <a:off x="2559950" y="1785939"/>
            <a:ext cx="304800" cy="304800"/>
            <a:chOff x="2019300" y="1733550"/>
            <a:chExt cx="304800" cy="3048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F7C54C5-50D2-F983-3248-99D79872C6CF}"/>
                </a:ext>
              </a:extLst>
            </p:cNvPr>
            <p:cNvSpPr/>
            <p:nvPr/>
          </p:nvSpPr>
          <p:spPr>
            <a:xfrm>
              <a:off x="2019300" y="1733550"/>
              <a:ext cx="304800" cy="228600"/>
            </a:xfrm>
            <a:custGeom>
              <a:avLst/>
              <a:gdLst>
                <a:gd name="csX0" fmla="*/ 257175 w 304800"/>
                <a:gd name="csY0" fmla="*/ 0 h 228600"/>
                <a:gd name="csX1" fmla="*/ 304800 w 304800"/>
                <a:gd name="csY1" fmla="*/ 0 h 228600"/>
                <a:gd name="csX2" fmla="*/ 304800 w 304800"/>
                <a:gd name="csY2" fmla="*/ 228600 h 228600"/>
                <a:gd name="csX3" fmla="*/ 257175 w 304800"/>
                <a:gd name="csY3" fmla="*/ 228600 h 228600"/>
                <a:gd name="csX4" fmla="*/ 47625 w 304800"/>
                <a:gd name="csY4" fmla="*/ 228600 h 228600"/>
                <a:gd name="csX5" fmla="*/ 0 w 304800"/>
                <a:gd name="csY5" fmla="*/ 228600 h 228600"/>
                <a:gd name="csX6" fmla="*/ 0 w 304800"/>
                <a:gd name="csY6" fmla="*/ 0 h 228600"/>
                <a:gd name="csX7" fmla="*/ 47625 w 304800"/>
                <a:gd name="csY7" fmla="*/ 0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04800" h="228600">
                  <a:moveTo>
                    <a:pt x="257175" y="0"/>
                  </a:moveTo>
                  <a:cubicBezTo>
                    <a:pt x="283478" y="0"/>
                    <a:pt x="304800" y="0"/>
                    <a:pt x="304800" y="0"/>
                  </a:cubicBezTo>
                  <a:lnTo>
                    <a:pt x="304800" y="228600"/>
                  </a:lnTo>
                  <a:cubicBezTo>
                    <a:pt x="304800" y="228600"/>
                    <a:pt x="283478" y="228600"/>
                    <a:pt x="257175" y="228600"/>
                  </a:cubicBezTo>
                  <a:lnTo>
                    <a:pt x="47625" y="228600"/>
                  </a:lnTo>
                  <a:cubicBezTo>
                    <a:pt x="21322" y="228600"/>
                    <a:pt x="0" y="228600"/>
                    <a:pt x="0" y="228600"/>
                  </a:cubicBezTo>
                  <a:lnTo>
                    <a:pt x="0" y="0"/>
                  </a:lnTo>
                  <a:cubicBezTo>
                    <a:pt x="0" y="0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1EFE8"/>
            </a:solidFill>
            <a:ln w="12383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F6C9853-9B9F-4119-B0F0-120C68A2C269}"/>
                </a:ext>
              </a:extLst>
            </p:cNvPr>
            <p:cNvSpPr/>
            <p:nvPr/>
          </p:nvSpPr>
          <p:spPr>
            <a:xfrm>
              <a:off x="2057400" y="1962150"/>
              <a:ext cx="95250" cy="76200"/>
            </a:xfrm>
            <a:custGeom>
              <a:avLst/>
              <a:gdLst>
                <a:gd name="csX0" fmla="*/ 19050 w 95250"/>
                <a:gd name="csY0" fmla="*/ 0 h 76200"/>
                <a:gd name="csX1" fmla="*/ 0 w 95250"/>
                <a:gd name="csY1" fmla="*/ 76200 h 76200"/>
                <a:gd name="csX2" fmla="*/ 95250 w 95250"/>
                <a:gd name="csY2" fmla="*/ 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250" h="76200">
                  <a:moveTo>
                    <a:pt x="19050" y="0"/>
                  </a:moveTo>
                  <a:lnTo>
                    <a:pt x="0" y="762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F5E5A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37E4B7-D8A9-EFB4-9FDC-B00F50EC5D78}"/>
                </a:ext>
              </a:extLst>
            </p:cNvPr>
            <p:cNvSpPr/>
            <p:nvPr/>
          </p:nvSpPr>
          <p:spPr>
            <a:xfrm>
              <a:off x="2076450" y="1819275"/>
              <a:ext cx="190500" cy="9525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1430" cap="rnd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F348D1A-7AE0-0ED3-16F1-A3679D543F88}"/>
                </a:ext>
              </a:extLst>
            </p:cNvPr>
            <p:cNvSpPr/>
            <p:nvPr/>
          </p:nvSpPr>
          <p:spPr>
            <a:xfrm>
              <a:off x="2076450" y="1876425"/>
              <a:ext cx="152400" cy="9525"/>
            </a:xfrm>
            <a:custGeom>
              <a:avLst/>
              <a:gdLst>
                <a:gd name="csX0" fmla="*/ 0 w 152400"/>
                <a:gd name="csY0" fmla="*/ 0 h 9525"/>
                <a:gd name="csX1" fmla="*/ 152400 w 1524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11430" cap="rnd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255861C-1543-B7E8-BBAF-773A8592FD8D}"/>
              </a:ext>
            </a:extLst>
          </p:cNvPr>
          <p:cNvSpPr txBox="1"/>
          <p:nvPr/>
        </p:nvSpPr>
        <p:spPr>
          <a:xfrm>
            <a:off x="3405034" y="1620131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>
                <a:ln/>
                <a:solidFill>
                  <a:srgbClr val="444441"/>
                </a:solidFill>
                <a:latin typeface="Segoe UI"/>
                <a:cs typeface="Segoe UI"/>
                <a:sym typeface="Segoe UI"/>
                <a:rtl val="0"/>
              </a:rPr>
              <a:t>Chat interface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82D5B3-80F0-465A-22F6-680144CE1A3A}"/>
              </a:ext>
            </a:extLst>
          </p:cNvPr>
          <p:cNvSpPr txBox="1"/>
          <p:nvPr/>
        </p:nvSpPr>
        <p:spPr>
          <a:xfrm>
            <a:off x="3000734" y="1831188"/>
            <a:ext cx="18293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5F5E5A"/>
                </a:solidFill>
                <a:latin typeface="Segoe UI"/>
                <a:cs typeface="Segoe UI"/>
                <a:sym typeface="Segoe UI"/>
                <a:rtl val="0"/>
              </a:rPr>
              <a:t>Session · history · artifact display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B5C6805-0AF9-B9C2-812C-11FA563B04CC}"/>
              </a:ext>
            </a:extLst>
          </p:cNvPr>
          <p:cNvSpPr/>
          <p:nvPr/>
        </p:nvSpPr>
        <p:spPr>
          <a:xfrm>
            <a:off x="3429003" y="2247900"/>
            <a:ext cx="9525" cy="285750"/>
          </a:xfrm>
          <a:custGeom>
            <a:avLst/>
            <a:gdLst>
              <a:gd name="csX0" fmla="*/ 0 w 9525"/>
              <a:gd name="csY0" fmla="*/ 0 h 285750"/>
              <a:gd name="csX1" fmla="*/ 0 w 9525"/>
              <a:gd name="csY1" fmla="*/ 285750 h 285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225F0AE6-9F76-12CF-A8DA-BF72333048C4}"/>
              </a:ext>
            </a:extLst>
          </p:cNvPr>
          <p:cNvSpPr/>
          <p:nvPr/>
        </p:nvSpPr>
        <p:spPr>
          <a:xfrm>
            <a:off x="476250" y="2533650"/>
            <a:ext cx="5905500" cy="3714750"/>
          </a:xfrm>
          <a:custGeom>
            <a:avLst/>
            <a:gdLst>
              <a:gd name="csX0" fmla="*/ 5772150 w 5905500"/>
              <a:gd name="csY0" fmla="*/ 0 h 3714750"/>
              <a:gd name="csX1" fmla="*/ 5905500 w 5905500"/>
              <a:gd name="csY1" fmla="*/ 0 h 3714750"/>
              <a:gd name="csX2" fmla="*/ 5905500 w 5905500"/>
              <a:gd name="csY2" fmla="*/ 3714750 h 3714750"/>
              <a:gd name="csX3" fmla="*/ 5772150 w 5905500"/>
              <a:gd name="csY3" fmla="*/ 3714750 h 3714750"/>
              <a:gd name="csX4" fmla="*/ 133350 w 5905500"/>
              <a:gd name="csY4" fmla="*/ 3714750 h 3714750"/>
              <a:gd name="csX5" fmla="*/ 0 w 5905500"/>
              <a:gd name="csY5" fmla="*/ 3714750 h 3714750"/>
              <a:gd name="csX6" fmla="*/ 0 w 5905500"/>
              <a:gd name="csY6" fmla="*/ 0 h 3714750"/>
              <a:gd name="csX7" fmla="*/ 133350 w 5905500"/>
              <a:gd name="csY7" fmla="*/ 0 h 3714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905500" h="3714750">
                <a:moveTo>
                  <a:pt x="5772150" y="0"/>
                </a:moveTo>
                <a:cubicBezTo>
                  <a:pt x="5845797" y="0"/>
                  <a:pt x="5905500" y="0"/>
                  <a:pt x="5905500" y="0"/>
                </a:cubicBezTo>
                <a:lnTo>
                  <a:pt x="5905500" y="3714750"/>
                </a:lnTo>
                <a:cubicBezTo>
                  <a:pt x="5905500" y="3714750"/>
                  <a:pt x="5845797" y="3714750"/>
                  <a:pt x="5772150" y="3714750"/>
                </a:cubicBezTo>
                <a:lnTo>
                  <a:pt x="133350" y="3714750"/>
                </a:lnTo>
                <a:cubicBezTo>
                  <a:pt x="59703" y="3714750"/>
                  <a:pt x="0" y="3714750"/>
                  <a:pt x="0" y="3714750"/>
                </a:cubicBezTo>
                <a:lnTo>
                  <a:pt x="0" y="0"/>
                </a:lnTo>
                <a:cubicBezTo>
                  <a:pt x="0" y="0"/>
                  <a:pt x="59703" y="0"/>
                  <a:pt x="133350" y="0"/>
                </a:cubicBezTo>
                <a:close/>
              </a:path>
            </a:pathLst>
          </a:custGeom>
          <a:noFill/>
          <a:ln w="9525" cap="flat">
            <a:solidFill>
              <a:srgbClr val="378ADD"/>
            </a:solidFill>
            <a:custDash>
              <a:ds d="45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8C843B-7152-EAF6-2583-870486254A33}"/>
              </a:ext>
            </a:extLst>
          </p:cNvPr>
          <p:cNvSpPr txBox="1"/>
          <p:nvPr/>
        </p:nvSpPr>
        <p:spPr>
          <a:xfrm>
            <a:off x="575310" y="2574138"/>
            <a:ext cx="1210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Agentic RAG system</a:t>
            </a:r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07685E6F-52B9-CFF4-4C8F-23A6D427B19E}"/>
              </a:ext>
            </a:extLst>
          </p:cNvPr>
          <p:cNvGrpSpPr/>
          <p:nvPr/>
        </p:nvGrpSpPr>
        <p:grpSpPr>
          <a:xfrm>
            <a:off x="647700" y="2838450"/>
            <a:ext cx="2571750" cy="1619250"/>
            <a:chOff x="647700" y="4819650"/>
            <a:chExt cx="2571750" cy="1619250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8B7CACA-B302-8AE0-B1DB-D5DC308EABFE}"/>
                </a:ext>
              </a:extLst>
            </p:cNvPr>
            <p:cNvSpPr/>
            <p:nvPr/>
          </p:nvSpPr>
          <p:spPr>
            <a:xfrm>
              <a:off x="647700" y="4819650"/>
              <a:ext cx="2571750" cy="1619250"/>
            </a:xfrm>
            <a:custGeom>
              <a:avLst/>
              <a:gdLst>
                <a:gd name="csX0" fmla="*/ 2476500 w 2571750"/>
                <a:gd name="csY0" fmla="*/ 0 h 1619250"/>
                <a:gd name="csX1" fmla="*/ 2571750 w 2571750"/>
                <a:gd name="csY1" fmla="*/ 0 h 1619250"/>
                <a:gd name="csX2" fmla="*/ 2571750 w 2571750"/>
                <a:gd name="csY2" fmla="*/ 1619250 h 1619250"/>
                <a:gd name="csX3" fmla="*/ 2476500 w 2571750"/>
                <a:gd name="csY3" fmla="*/ 1619250 h 1619250"/>
                <a:gd name="csX4" fmla="*/ 95250 w 2571750"/>
                <a:gd name="csY4" fmla="*/ 1619250 h 1619250"/>
                <a:gd name="csX5" fmla="*/ 0 w 2571750"/>
                <a:gd name="csY5" fmla="*/ 1619250 h 1619250"/>
                <a:gd name="csX6" fmla="*/ 0 w 2571750"/>
                <a:gd name="csY6" fmla="*/ 0 h 1619250"/>
                <a:gd name="csX7" fmla="*/ 95250 w 2571750"/>
                <a:gd name="csY7" fmla="*/ 0 h 16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71750" h="1619250">
                  <a:moveTo>
                    <a:pt x="2476500" y="0"/>
                  </a:moveTo>
                  <a:cubicBezTo>
                    <a:pt x="2529105" y="0"/>
                    <a:pt x="2571750" y="0"/>
                    <a:pt x="2571750" y="0"/>
                  </a:cubicBezTo>
                  <a:lnTo>
                    <a:pt x="2571750" y="1619250"/>
                  </a:lnTo>
                  <a:cubicBezTo>
                    <a:pt x="2571750" y="1619250"/>
                    <a:pt x="2529105" y="1619250"/>
                    <a:pt x="2476500" y="1619250"/>
                  </a:cubicBezTo>
                  <a:lnTo>
                    <a:pt x="95250" y="1619250"/>
                  </a:lnTo>
                  <a:cubicBezTo>
                    <a:pt x="42645" y="1619250"/>
                    <a:pt x="0" y="1619250"/>
                    <a:pt x="0" y="1619250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6F1FB"/>
            </a:solidFill>
            <a:ln w="4763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65E8086-D434-A021-9F13-6DAAE816A91C}"/>
                </a:ext>
              </a:extLst>
            </p:cNvPr>
            <p:cNvSpPr/>
            <p:nvPr/>
          </p:nvSpPr>
          <p:spPr>
            <a:xfrm>
              <a:off x="885825" y="5000625"/>
              <a:ext cx="209550" cy="209550"/>
            </a:xfrm>
            <a:custGeom>
              <a:avLst/>
              <a:gdLst>
                <a:gd name="csX0" fmla="*/ 209550 w 209550"/>
                <a:gd name="csY0" fmla="*/ 104775 h 209550"/>
                <a:gd name="csX1" fmla="*/ 104775 w 209550"/>
                <a:gd name="csY1" fmla="*/ 209550 h 209550"/>
                <a:gd name="csX2" fmla="*/ 0 w 209550"/>
                <a:gd name="csY2" fmla="*/ 104775 h 209550"/>
                <a:gd name="csX3" fmla="*/ 104775 w 209550"/>
                <a:gd name="csY3" fmla="*/ 0 h 209550"/>
                <a:gd name="csX4" fmla="*/ 209550 w 209550"/>
                <a:gd name="csY4" fmla="*/ 104775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162641"/>
                    <a:pt x="162641" y="209550"/>
                    <a:pt x="104775" y="209550"/>
                  </a:cubicBezTo>
                  <a:cubicBezTo>
                    <a:pt x="46909" y="209550"/>
                    <a:pt x="0" y="162641"/>
                    <a:pt x="0" y="104775"/>
                  </a:cubicBezTo>
                  <a:cubicBezTo>
                    <a:pt x="0" y="46909"/>
                    <a:pt x="46909" y="0"/>
                    <a:pt x="104775" y="0"/>
                  </a:cubicBezTo>
                  <a:cubicBezTo>
                    <a:pt x="162641" y="0"/>
                    <a:pt x="209550" y="46909"/>
                    <a:pt x="209550" y="104775"/>
                  </a:cubicBezTo>
                  <a:close/>
                </a:path>
              </a:pathLst>
            </a:custGeom>
            <a:solidFill>
              <a:srgbClr val="E6F1FB"/>
            </a:solidFill>
            <a:ln w="14288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CE320AD-70DD-6413-F1DA-D79258B7D0E9}"/>
                </a:ext>
              </a:extLst>
            </p:cNvPr>
            <p:cNvSpPr/>
            <p:nvPr/>
          </p:nvSpPr>
          <p:spPr>
            <a:xfrm>
              <a:off x="1066800" y="5191125"/>
              <a:ext cx="76200" cy="76200"/>
            </a:xfrm>
            <a:custGeom>
              <a:avLst/>
              <a:gdLst>
                <a:gd name="csX0" fmla="*/ 0 w 76200"/>
                <a:gd name="csY0" fmla="*/ 0 h 76200"/>
                <a:gd name="csX1" fmla="*/ 76200 w 76200"/>
                <a:gd name="csY1" fmla="*/ 762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ln w="17145" cap="rnd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58CF43-2EEE-9F57-189F-2B9641AE41A3}"/>
                </a:ext>
              </a:extLst>
            </p:cNvPr>
            <p:cNvSpPr txBox="1"/>
            <p:nvPr/>
          </p:nvSpPr>
          <p:spPr>
            <a:xfrm>
              <a:off x="1427201" y="4877681"/>
              <a:ext cx="115929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0C447C"/>
                  </a:solidFill>
                  <a:latin typeface="Segoe UI"/>
                  <a:cs typeface="Segoe UI"/>
                  <a:sym typeface="Segoe UI"/>
                  <a:rtl val="0"/>
                </a:rPr>
                <a:t>Context retrieval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2F7A85-B135-7C56-1998-EC21D3CFC2DB}"/>
                </a:ext>
              </a:extLst>
            </p:cNvPr>
            <p:cNvSpPr txBox="1"/>
            <p:nvPr/>
          </p:nvSpPr>
          <p:spPr>
            <a:xfrm>
              <a:off x="1143554" y="5126838"/>
              <a:ext cx="188705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dirty="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Query is embedded and matched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A95937-A935-8657-7340-3EB14FE9F57D}"/>
                </a:ext>
              </a:extLst>
            </p:cNvPr>
            <p:cNvSpPr txBox="1"/>
            <p:nvPr/>
          </p:nvSpPr>
          <p:spPr>
            <a:xfrm>
              <a:off x="1282131" y="5298288"/>
              <a:ext cx="16081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against the knowledge base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F588E32-C8BC-8407-F97C-CC73998DE724}"/>
                </a:ext>
              </a:extLst>
            </p:cNvPr>
            <p:cNvSpPr/>
            <p:nvPr/>
          </p:nvSpPr>
          <p:spPr>
            <a:xfrm>
              <a:off x="838200" y="5638800"/>
              <a:ext cx="2190750" cy="666750"/>
            </a:xfrm>
            <a:custGeom>
              <a:avLst/>
              <a:gdLst>
                <a:gd name="csX0" fmla="*/ 2124075 w 2190750"/>
                <a:gd name="csY0" fmla="*/ 0 h 666750"/>
                <a:gd name="csX1" fmla="*/ 2190750 w 2190750"/>
                <a:gd name="csY1" fmla="*/ 0 h 666750"/>
                <a:gd name="csX2" fmla="*/ 2190750 w 2190750"/>
                <a:gd name="csY2" fmla="*/ 666750 h 666750"/>
                <a:gd name="csX3" fmla="*/ 2124075 w 2190750"/>
                <a:gd name="csY3" fmla="*/ 666750 h 666750"/>
                <a:gd name="csX4" fmla="*/ 66675 w 2190750"/>
                <a:gd name="csY4" fmla="*/ 666750 h 666750"/>
                <a:gd name="csX5" fmla="*/ 0 w 2190750"/>
                <a:gd name="csY5" fmla="*/ 666750 h 666750"/>
                <a:gd name="csX6" fmla="*/ 0 w 2190750"/>
                <a:gd name="csY6" fmla="*/ 0 h 666750"/>
                <a:gd name="csX7" fmla="*/ 66675 w 2190750"/>
                <a:gd name="csY7" fmla="*/ 0 h 666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90750" h="666750">
                  <a:moveTo>
                    <a:pt x="2124075" y="0"/>
                  </a:moveTo>
                  <a:cubicBezTo>
                    <a:pt x="2160899" y="0"/>
                    <a:pt x="2190750" y="0"/>
                    <a:pt x="2190750" y="0"/>
                  </a:cubicBezTo>
                  <a:lnTo>
                    <a:pt x="2190750" y="666750"/>
                  </a:lnTo>
                  <a:cubicBezTo>
                    <a:pt x="2190750" y="666750"/>
                    <a:pt x="2160899" y="666750"/>
                    <a:pt x="2124075" y="666750"/>
                  </a:cubicBezTo>
                  <a:lnTo>
                    <a:pt x="66675" y="666750"/>
                  </a:lnTo>
                  <a:cubicBezTo>
                    <a:pt x="29851" y="666750"/>
                    <a:pt x="0" y="666750"/>
                    <a:pt x="0" y="666750"/>
                  </a:cubicBezTo>
                  <a:lnTo>
                    <a:pt x="0" y="0"/>
                  </a:lnTo>
                  <a:cubicBezTo>
                    <a:pt x="0" y="0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E6F1FB"/>
            </a:solidFill>
            <a:ln w="5715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27F9472-1F5F-A9E5-8BB1-9206383428FC}"/>
                </a:ext>
              </a:extLst>
            </p:cNvPr>
            <p:cNvSpPr/>
            <p:nvPr/>
          </p:nvSpPr>
          <p:spPr>
            <a:xfrm>
              <a:off x="1009650" y="5762625"/>
              <a:ext cx="266700" cy="95250"/>
            </a:xfrm>
            <a:custGeom>
              <a:avLst/>
              <a:gdLst>
                <a:gd name="csX0" fmla="*/ 266700 w 266700"/>
                <a:gd name="csY0" fmla="*/ 47625 h 95250"/>
                <a:gd name="csX1" fmla="*/ 133350 w 266700"/>
                <a:gd name="csY1" fmla="*/ 95250 h 95250"/>
                <a:gd name="csX2" fmla="*/ 0 w 266700"/>
                <a:gd name="csY2" fmla="*/ 47625 h 95250"/>
                <a:gd name="csX3" fmla="*/ 133350 w 266700"/>
                <a:gd name="csY3" fmla="*/ 0 h 95250"/>
                <a:gd name="csX4" fmla="*/ 266700 w 266700"/>
                <a:gd name="csY4" fmla="*/ 47625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6700" h="95250">
                  <a:moveTo>
                    <a:pt x="266700" y="47625"/>
                  </a:moveTo>
                  <a:cubicBezTo>
                    <a:pt x="266700" y="73927"/>
                    <a:pt x="206997" y="95250"/>
                    <a:pt x="133350" y="95250"/>
                  </a:cubicBezTo>
                  <a:cubicBezTo>
                    <a:pt x="59703" y="95250"/>
                    <a:pt x="0" y="73927"/>
                    <a:pt x="0" y="47625"/>
                  </a:cubicBezTo>
                  <a:cubicBezTo>
                    <a:pt x="0" y="21323"/>
                    <a:pt x="59703" y="0"/>
                    <a:pt x="133350" y="0"/>
                  </a:cubicBezTo>
                  <a:cubicBezTo>
                    <a:pt x="206997" y="0"/>
                    <a:pt x="266700" y="21323"/>
                    <a:pt x="266700" y="47625"/>
                  </a:cubicBezTo>
                  <a:close/>
                </a:path>
              </a:pathLst>
            </a:custGeom>
            <a:solidFill>
              <a:srgbClr val="E6F1FB"/>
            </a:solidFill>
            <a:ln w="11430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51E9ACE-23F2-B600-501E-215D3AC117FE}"/>
                </a:ext>
              </a:extLst>
            </p:cNvPr>
            <p:cNvSpPr/>
            <p:nvPr/>
          </p:nvSpPr>
          <p:spPr>
            <a:xfrm>
              <a:off x="1009650" y="5810250"/>
              <a:ext cx="266700" cy="209550"/>
            </a:xfrm>
            <a:custGeom>
              <a:avLst/>
              <a:gdLst>
                <a:gd name="csX0" fmla="*/ 0 w 266700"/>
                <a:gd name="csY0" fmla="*/ 0 h 209550"/>
                <a:gd name="csX1" fmla="*/ 266700 w 266700"/>
                <a:gd name="csY1" fmla="*/ 0 h 209550"/>
                <a:gd name="csX2" fmla="*/ 266700 w 266700"/>
                <a:gd name="csY2" fmla="*/ 209550 h 209550"/>
                <a:gd name="csX3" fmla="*/ 0 w 266700"/>
                <a:gd name="csY3" fmla="*/ 20955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6700" h="209550">
                  <a:moveTo>
                    <a:pt x="0" y="0"/>
                  </a:moveTo>
                  <a:lnTo>
                    <a:pt x="266700" y="0"/>
                  </a:lnTo>
                  <a:lnTo>
                    <a:pt x="266700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E6F1FB"/>
            </a:solidFill>
            <a:ln w="11430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3C7E811-A7DE-CEF6-89BF-C0FFE4AE0C5D}"/>
                </a:ext>
              </a:extLst>
            </p:cNvPr>
            <p:cNvSpPr/>
            <p:nvPr/>
          </p:nvSpPr>
          <p:spPr>
            <a:xfrm>
              <a:off x="1009650" y="5972175"/>
              <a:ext cx="266700" cy="95250"/>
            </a:xfrm>
            <a:custGeom>
              <a:avLst/>
              <a:gdLst>
                <a:gd name="csX0" fmla="*/ 266700 w 266700"/>
                <a:gd name="csY0" fmla="*/ 47625 h 95250"/>
                <a:gd name="csX1" fmla="*/ 133350 w 266700"/>
                <a:gd name="csY1" fmla="*/ 95250 h 95250"/>
                <a:gd name="csX2" fmla="*/ 0 w 266700"/>
                <a:gd name="csY2" fmla="*/ 47625 h 95250"/>
                <a:gd name="csX3" fmla="*/ 133350 w 266700"/>
                <a:gd name="csY3" fmla="*/ 0 h 95250"/>
                <a:gd name="csX4" fmla="*/ 266700 w 266700"/>
                <a:gd name="csY4" fmla="*/ 47625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6700" h="95250">
                  <a:moveTo>
                    <a:pt x="266700" y="47625"/>
                  </a:moveTo>
                  <a:cubicBezTo>
                    <a:pt x="266700" y="73927"/>
                    <a:pt x="206997" y="95250"/>
                    <a:pt x="133350" y="95250"/>
                  </a:cubicBezTo>
                  <a:cubicBezTo>
                    <a:pt x="59703" y="95250"/>
                    <a:pt x="0" y="73927"/>
                    <a:pt x="0" y="47625"/>
                  </a:cubicBezTo>
                  <a:cubicBezTo>
                    <a:pt x="0" y="21323"/>
                    <a:pt x="59703" y="0"/>
                    <a:pt x="133350" y="0"/>
                  </a:cubicBezTo>
                  <a:cubicBezTo>
                    <a:pt x="206997" y="0"/>
                    <a:pt x="266700" y="21323"/>
                    <a:pt x="266700" y="47625"/>
                  </a:cubicBezTo>
                  <a:close/>
                </a:path>
              </a:pathLst>
            </a:custGeom>
            <a:solidFill>
              <a:srgbClr val="E6F1FB"/>
            </a:solidFill>
            <a:ln w="11430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8B14CB-E2B4-73E4-27AD-4A00F49AE5FE}"/>
                </a:ext>
              </a:extLst>
            </p:cNvPr>
            <p:cNvSpPr txBox="1"/>
            <p:nvPr/>
          </p:nvSpPr>
          <p:spPr>
            <a:xfrm>
              <a:off x="1616697" y="5639681"/>
              <a:ext cx="115929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0C447C"/>
                  </a:solidFill>
                  <a:latin typeface="Segoe UI"/>
                  <a:cs typeface="Segoe UI"/>
                  <a:sym typeface="Segoe UI"/>
                  <a:rtl val="0"/>
                </a:rPr>
                <a:t>Knowledge base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21A9D42-F4FF-F9C5-2AB6-8A316E64C2E2}"/>
                </a:ext>
              </a:extLst>
            </p:cNvPr>
            <p:cNvSpPr txBox="1"/>
            <p:nvPr/>
          </p:nvSpPr>
          <p:spPr>
            <a:xfrm>
              <a:off x="1315590" y="5831688"/>
              <a:ext cx="17748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Datasets · variables · references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059CF5-82C1-67BD-A1B0-5A14DC04CA45}"/>
                </a:ext>
              </a:extLst>
            </p:cNvPr>
            <p:cNvSpPr txBox="1"/>
            <p:nvPr/>
          </p:nvSpPr>
          <p:spPr>
            <a:xfrm>
              <a:off x="1608791" y="5984088"/>
              <a:ext cx="118173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Vector embeddings</a:t>
              </a:r>
            </a:p>
          </p:txBody>
        </p:sp>
      </p:grpSp>
      <p:sp>
        <p:nvSpPr>
          <p:cNvPr id="41" name="Freeform 40">
            <a:extLst>
              <a:ext uri="{FF2B5EF4-FFF2-40B4-BE49-F238E27FC236}">
                <a16:creationId xmlns:a16="http://schemas.microsoft.com/office/drawing/2014/main" id="{E0E3A4F1-275B-3769-937F-92FB3C4434C9}"/>
              </a:ext>
            </a:extLst>
          </p:cNvPr>
          <p:cNvSpPr/>
          <p:nvPr/>
        </p:nvSpPr>
        <p:spPr>
          <a:xfrm>
            <a:off x="3219450" y="3638553"/>
            <a:ext cx="419100" cy="9525"/>
          </a:xfrm>
          <a:custGeom>
            <a:avLst/>
            <a:gdLst>
              <a:gd name="csX0" fmla="*/ 0 w 419100"/>
              <a:gd name="csY0" fmla="*/ 0 h 9525"/>
              <a:gd name="csX1" fmla="*/ 419100 w 4191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ln w="13335" cap="flat">
            <a:solidFill>
              <a:srgbClr val="185FA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FD4DD1-B6B3-A696-8DCA-3FE96CC0D366}"/>
              </a:ext>
            </a:extLst>
          </p:cNvPr>
          <p:cNvSpPr txBox="1"/>
          <p:nvPr/>
        </p:nvSpPr>
        <p:spPr>
          <a:xfrm>
            <a:off x="3119340" y="3237496"/>
            <a:ext cx="6254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enriched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1FD242-9401-5F8E-B0CE-3311FF2450F8}"/>
              </a:ext>
            </a:extLst>
          </p:cNvPr>
          <p:cNvSpPr txBox="1"/>
          <p:nvPr/>
        </p:nvSpPr>
        <p:spPr>
          <a:xfrm>
            <a:off x="3160008" y="3388653"/>
            <a:ext cx="561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context</a:t>
            </a:r>
          </a:p>
        </p:txBody>
      </p:sp>
      <p:grpSp>
        <p:nvGrpSpPr>
          <p:cNvPr id="44" name="Graphic 4">
            <a:extLst>
              <a:ext uri="{FF2B5EF4-FFF2-40B4-BE49-F238E27FC236}">
                <a16:creationId xmlns:a16="http://schemas.microsoft.com/office/drawing/2014/main" id="{E1169878-DCE2-AEFA-8485-C805296D4621}"/>
              </a:ext>
            </a:extLst>
          </p:cNvPr>
          <p:cNvGrpSpPr/>
          <p:nvPr/>
        </p:nvGrpSpPr>
        <p:grpSpPr>
          <a:xfrm>
            <a:off x="3638550" y="2838450"/>
            <a:ext cx="2571750" cy="1619250"/>
            <a:chOff x="3638550" y="4819650"/>
            <a:chExt cx="2571750" cy="1619250"/>
          </a:xfrm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DC6B5E5-2C43-FCC0-C7F6-28F186254E1E}"/>
                </a:ext>
              </a:extLst>
            </p:cNvPr>
            <p:cNvSpPr/>
            <p:nvPr/>
          </p:nvSpPr>
          <p:spPr>
            <a:xfrm>
              <a:off x="3638550" y="4819650"/>
              <a:ext cx="2571750" cy="1619250"/>
            </a:xfrm>
            <a:custGeom>
              <a:avLst/>
              <a:gdLst>
                <a:gd name="csX0" fmla="*/ 2476500 w 2571750"/>
                <a:gd name="csY0" fmla="*/ 0 h 1619250"/>
                <a:gd name="csX1" fmla="*/ 2571750 w 2571750"/>
                <a:gd name="csY1" fmla="*/ 0 h 1619250"/>
                <a:gd name="csX2" fmla="*/ 2571750 w 2571750"/>
                <a:gd name="csY2" fmla="*/ 1619250 h 1619250"/>
                <a:gd name="csX3" fmla="*/ 2476500 w 2571750"/>
                <a:gd name="csY3" fmla="*/ 1619250 h 1619250"/>
                <a:gd name="csX4" fmla="*/ 95250 w 2571750"/>
                <a:gd name="csY4" fmla="*/ 1619250 h 1619250"/>
                <a:gd name="csX5" fmla="*/ 0 w 2571750"/>
                <a:gd name="csY5" fmla="*/ 1619250 h 1619250"/>
                <a:gd name="csX6" fmla="*/ 0 w 2571750"/>
                <a:gd name="csY6" fmla="*/ 0 h 1619250"/>
                <a:gd name="csX7" fmla="*/ 95250 w 2571750"/>
                <a:gd name="csY7" fmla="*/ 0 h 1619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71750" h="1619250">
                  <a:moveTo>
                    <a:pt x="2476500" y="0"/>
                  </a:moveTo>
                  <a:cubicBezTo>
                    <a:pt x="2529105" y="0"/>
                    <a:pt x="2571750" y="0"/>
                    <a:pt x="2571750" y="0"/>
                  </a:cubicBezTo>
                  <a:lnTo>
                    <a:pt x="2571750" y="1619250"/>
                  </a:lnTo>
                  <a:cubicBezTo>
                    <a:pt x="2571750" y="1619250"/>
                    <a:pt x="2529105" y="1619250"/>
                    <a:pt x="2476500" y="1619250"/>
                  </a:cubicBezTo>
                  <a:lnTo>
                    <a:pt x="95250" y="1619250"/>
                  </a:lnTo>
                  <a:cubicBezTo>
                    <a:pt x="42645" y="1619250"/>
                    <a:pt x="0" y="1619250"/>
                    <a:pt x="0" y="1619250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6F1FB"/>
            </a:solidFill>
            <a:ln w="4763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79737E8-2F59-6C57-7677-A870DCF7D4FF}"/>
                </a:ext>
              </a:extLst>
            </p:cNvPr>
            <p:cNvSpPr/>
            <p:nvPr/>
          </p:nvSpPr>
          <p:spPr>
            <a:xfrm>
              <a:off x="3797670" y="5010150"/>
              <a:ext cx="361950" cy="66675"/>
            </a:xfrm>
            <a:custGeom>
              <a:avLst/>
              <a:gdLst>
                <a:gd name="csX0" fmla="*/ 333375 w 361950"/>
                <a:gd name="csY0" fmla="*/ 0 h 66675"/>
                <a:gd name="csX1" fmla="*/ 361950 w 361950"/>
                <a:gd name="csY1" fmla="*/ 0 h 66675"/>
                <a:gd name="csX2" fmla="*/ 361950 w 361950"/>
                <a:gd name="csY2" fmla="*/ 66675 h 66675"/>
                <a:gd name="csX3" fmla="*/ 333375 w 361950"/>
                <a:gd name="csY3" fmla="*/ 66675 h 66675"/>
                <a:gd name="csX4" fmla="*/ 28575 w 361950"/>
                <a:gd name="csY4" fmla="*/ 66675 h 66675"/>
                <a:gd name="csX5" fmla="*/ 0 w 361950"/>
                <a:gd name="csY5" fmla="*/ 66675 h 66675"/>
                <a:gd name="csX6" fmla="*/ 0 w 361950"/>
                <a:gd name="csY6" fmla="*/ 0 h 66675"/>
                <a:gd name="csX7" fmla="*/ 28575 w 361950"/>
                <a:gd name="csY7" fmla="*/ 0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1950" h="66675">
                  <a:moveTo>
                    <a:pt x="333375" y="0"/>
                  </a:moveTo>
                  <a:cubicBezTo>
                    <a:pt x="349157" y="0"/>
                    <a:pt x="361950" y="0"/>
                    <a:pt x="361950" y="0"/>
                  </a:cubicBezTo>
                  <a:lnTo>
                    <a:pt x="361950" y="66675"/>
                  </a:lnTo>
                  <a:cubicBezTo>
                    <a:pt x="361950" y="66675"/>
                    <a:pt x="349157" y="66675"/>
                    <a:pt x="333375" y="66675"/>
                  </a:cubicBezTo>
                  <a:lnTo>
                    <a:pt x="28575" y="66675"/>
                  </a:lnTo>
                  <a:cubicBezTo>
                    <a:pt x="12793" y="66675"/>
                    <a:pt x="0" y="66675"/>
                    <a:pt x="0" y="66675"/>
                  </a:cubicBezTo>
                  <a:lnTo>
                    <a:pt x="0" y="0"/>
                  </a:lnTo>
                  <a:cubicBezTo>
                    <a:pt x="0" y="0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6F1FB"/>
            </a:solidFill>
            <a:ln w="9525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F4E7F35-1A95-A9DA-146D-AD08F7451513}"/>
                </a:ext>
              </a:extLst>
            </p:cNvPr>
            <p:cNvSpPr/>
            <p:nvPr/>
          </p:nvSpPr>
          <p:spPr>
            <a:xfrm>
              <a:off x="3797670" y="5114925"/>
              <a:ext cx="361950" cy="66675"/>
            </a:xfrm>
            <a:custGeom>
              <a:avLst/>
              <a:gdLst>
                <a:gd name="csX0" fmla="*/ 333375 w 361950"/>
                <a:gd name="csY0" fmla="*/ 0 h 66675"/>
                <a:gd name="csX1" fmla="*/ 361950 w 361950"/>
                <a:gd name="csY1" fmla="*/ 0 h 66675"/>
                <a:gd name="csX2" fmla="*/ 361950 w 361950"/>
                <a:gd name="csY2" fmla="*/ 66675 h 66675"/>
                <a:gd name="csX3" fmla="*/ 333375 w 361950"/>
                <a:gd name="csY3" fmla="*/ 66675 h 66675"/>
                <a:gd name="csX4" fmla="*/ 28575 w 361950"/>
                <a:gd name="csY4" fmla="*/ 66675 h 66675"/>
                <a:gd name="csX5" fmla="*/ 0 w 361950"/>
                <a:gd name="csY5" fmla="*/ 66675 h 66675"/>
                <a:gd name="csX6" fmla="*/ 0 w 361950"/>
                <a:gd name="csY6" fmla="*/ 0 h 66675"/>
                <a:gd name="csX7" fmla="*/ 28575 w 361950"/>
                <a:gd name="csY7" fmla="*/ 0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1950" h="66675">
                  <a:moveTo>
                    <a:pt x="333375" y="0"/>
                  </a:moveTo>
                  <a:cubicBezTo>
                    <a:pt x="349157" y="0"/>
                    <a:pt x="361950" y="0"/>
                    <a:pt x="361950" y="0"/>
                  </a:cubicBezTo>
                  <a:lnTo>
                    <a:pt x="361950" y="66675"/>
                  </a:lnTo>
                  <a:cubicBezTo>
                    <a:pt x="361950" y="66675"/>
                    <a:pt x="349157" y="66675"/>
                    <a:pt x="333375" y="66675"/>
                  </a:cubicBezTo>
                  <a:lnTo>
                    <a:pt x="28575" y="66675"/>
                  </a:lnTo>
                  <a:cubicBezTo>
                    <a:pt x="12793" y="66675"/>
                    <a:pt x="0" y="66675"/>
                    <a:pt x="0" y="66675"/>
                  </a:cubicBezTo>
                  <a:lnTo>
                    <a:pt x="0" y="0"/>
                  </a:lnTo>
                  <a:cubicBezTo>
                    <a:pt x="0" y="0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6F1FB"/>
            </a:solidFill>
            <a:ln w="9525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44EB7D4-0653-44D0-7A3E-BF945301ED97}"/>
                </a:ext>
              </a:extLst>
            </p:cNvPr>
            <p:cNvSpPr/>
            <p:nvPr/>
          </p:nvSpPr>
          <p:spPr>
            <a:xfrm>
              <a:off x="3797670" y="5219700"/>
              <a:ext cx="361950" cy="66675"/>
            </a:xfrm>
            <a:custGeom>
              <a:avLst/>
              <a:gdLst>
                <a:gd name="csX0" fmla="*/ 333375 w 361950"/>
                <a:gd name="csY0" fmla="*/ 0 h 66675"/>
                <a:gd name="csX1" fmla="*/ 361950 w 361950"/>
                <a:gd name="csY1" fmla="*/ 0 h 66675"/>
                <a:gd name="csX2" fmla="*/ 361950 w 361950"/>
                <a:gd name="csY2" fmla="*/ 66675 h 66675"/>
                <a:gd name="csX3" fmla="*/ 333375 w 361950"/>
                <a:gd name="csY3" fmla="*/ 66675 h 66675"/>
                <a:gd name="csX4" fmla="*/ 28575 w 361950"/>
                <a:gd name="csY4" fmla="*/ 66675 h 66675"/>
                <a:gd name="csX5" fmla="*/ 0 w 361950"/>
                <a:gd name="csY5" fmla="*/ 66675 h 66675"/>
                <a:gd name="csX6" fmla="*/ 0 w 361950"/>
                <a:gd name="csY6" fmla="*/ 0 h 66675"/>
                <a:gd name="csX7" fmla="*/ 28575 w 361950"/>
                <a:gd name="csY7" fmla="*/ 0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1950" h="66675">
                  <a:moveTo>
                    <a:pt x="333375" y="0"/>
                  </a:moveTo>
                  <a:cubicBezTo>
                    <a:pt x="349157" y="0"/>
                    <a:pt x="361950" y="0"/>
                    <a:pt x="361950" y="0"/>
                  </a:cubicBezTo>
                  <a:lnTo>
                    <a:pt x="361950" y="66675"/>
                  </a:lnTo>
                  <a:cubicBezTo>
                    <a:pt x="361950" y="66675"/>
                    <a:pt x="349157" y="66675"/>
                    <a:pt x="333375" y="66675"/>
                  </a:cubicBezTo>
                  <a:lnTo>
                    <a:pt x="28575" y="66675"/>
                  </a:lnTo>
                  <a:cubicBezTo>
                    <a:pt x="12793" y="66675"/>
                    <a:pt x="0" y="66675"/>
                    <a:pt x="0" y="66675"/>
                  </a:cubicBezTo>
                  <a:lnTo>
                    <a:pt x="0" y="0"/>
                  </a:lnTo>
                  <a:cubicBezTo>
                    <a:pt x="0" y="0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6F1FB"/>
            </a:solidFill>
            <a:ln w="9525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6C9AA47-6D1D-87FE-EC1A-78430FE9675A}"/>
                </a:ext>
              </a:extLst>
            </p:cNvPr>
            <p:cNvSpPr/>
            <p:nvPr/>
          </p:nvSpPr>
          <p:spPr>
            <a:xfrm>
              <a:off x="3962400" y="5048250"/>
              <a:ext cx="9525" cy="238125"/>
            </a:xfrm>
            <a:custGeom>
              <a:avLst/>
              <a:gdLst>
                <a:gd name="csX0" fmla="*/ 0 w 9525"/>
                <a:gd name="csY0" fmla="*/ 0 h 238125"/>
                <a:gd name="csX1" fmla="*/ 0 w 9525"/>
                <a:gd name="csY1" fmla="*/ 238125 h 238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ln w="7620" cap="flat">
              <a:solidFill>
                <a:srgbClr val="E6F1FB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A71FF71-004C-E260-9362-FD4B55BD2B51}"/>
                </a:ext>
              </a:extLst>
            </p:cNvPr>
            <p:cNvSpPr/>
            <p:nvPr/>
          </p:nvSpPr>
          <p:spPr>
            <a:xfrm>
              <a:off x="4029075" y="5048250"/>
              <a:ext cx="9525" cy="238125"/>
            </a:xfrm>
            <a:custGeom>
              <a:avLst/>
              <a:gdLst>
                <a:gd name="csX0" fmla="*/ 0 w 9525"/>
                <a:gd name="csY0" fmla="*/ 0 h 238125"/>
                <a:gd name="csX1" fmla="*/ 0 w 9525"/>
                <a:gd name="csY1" fmla="*/ 238125 h 238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ln w="7620" cap="flat">
              <a:solidFill>
                <a:srgbClr val="E6F1FB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BF138E3-3E4A-59EF-6F21-7FBABFBFB722}"/>
                </a:ext>
              </a:extLst>
            </p:cNvPr>
            <p:cNvSpPr txBox="1"/>
            <p:nvPr/>
          </p:nvSpPr>
          <p:spPr>
            <a:xfrm>
              <a:off x="4251601" y="4877681"/>
              <a:ext cx="182614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0C447C"/>
                  </a:solidFill>
                  <a:latin typeface="Segoe UI"/>
                  <a:cs typeface="Segoe UI"/>
                  <a:sym typeface="Segoe UI"/>
                  <a:rtl val="0"/>
                </a:rPr>
                <a:t>LLM Planner (Reason +Act)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0D618B-FAA2-E16D-6152-8F614A3CFD28}"/>
                </a:ext>
              </a:extLst>
            </p:cNvPr>
            <p:cNvSpPr txBox="1"/>
            <p:nvPr/>
          </p:nvSpPr>
          <p:spPr>
            <a:xfrm>
              <a:off x="4130398" y="5162698"/>
              <a:ext cx="19960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dirty="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Prompt = query + retrieved context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C1157E3-F67F-7DDD-B858-BBC1E67CCA53}"/>
                </a:ext>
              </a:extLst>
            </p:cNvPr>
            <p:cNvSpPr txBox="1"/>
            <p:nvPr/>
          </p:nvSpPr>
          <p:spPr>
            <a:xfrm>
              <a:off x="4430185" y="5334148"/>
              <a:ext cx="13917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dirty="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Iterative reasoning loop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0176F728-B44D-0B50-3396-75A70378EECF}"/>
                </a:ext>
              </a:extLst>
            </p:cNvPr>
            <p:cNvSpPr/>
            <p:nvPr/>
          </p:nvSpPr>
          <p:spPr>
            <a:xfrm>
              <a:off x="3829050" y="5638800"/>
              <a:ext cx="2190750" cy="666750"/>
            </a:xfrm>
            <a:custGeom>
              <a:avLst/>
              <a:gdLst>
                <a:gd name="csX0" fmla="*/ 2124075 w 2190750"/>
                <a:gd name="csY0" fmla="*/ 0 h 666750"/>
                <a:gd name="csX1" fmla="*/ 2190750 w 2190750"/>
                <a:gd name="csY1" fmla="*/ 0 h 666750"/>
                <a:gd name="csX2" fmla="*/ 2190750 w 2190750"/>
                <a:gd name="csY2" fmla="*/ 666750 h 666750"/>
                <a:gd name="csX3" fmla="*/ 2124075 w 2190750"/>
                <a:gd name="csY3" fmla="*/ 666750 h 666750"/>
                <a:gd name="csX4" fmla="*/ 66675 w 2190750"/>
                <a:gd name="csY4" fmla="*/ 666750 h 666750"/>
                <a:gd name="csX5" fmla="*/ 0 w 2190750"/>
                <a:gd name="csY5" fmla="*/ 666750 h 666750"/>
                <a:gd name="csX6" fmla="*/ 0 w 2190750"/>
                <a:gd name="csY6" fmla="*/ 0 h 666750"/>
                <a:gd name="csX7" fmla="*/ 66675 w 2190750"/>
                <a:gd name="csY7" fmla="*/ 0 h 666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90750" h="666750">
                  <a:moveTo>
                    <a:pt x="2124075" y="0"/>
                  </a:moveTo>
                  <a:cubicBezTo>
                    <a:pt x="2160898" y="0"/>
                    <a:pt x="2190750" y="0"/>
                    <a:pt x="2190750" y="0"/>
                  </a:cubicBezTo>
                  <a:lnTo>
                    <a:pt x="2190750" y="666750"/>
                  </a:lnTo>
                  <a:cubicBezTo>
                    <a:pt x="2190750" y="666750"/>
                    <a:pt x="2160898" y="666750"/>
                    <a:pt x="2124075" y="666750"/>
                  </a:cubicBezTo>
                  <a:lnTo>
                    <a:pt x="66675" y="666750"/>
                  </a:lnTo>
                  <a:cubicBezTo>
                    <a:pt x="29851" y="666750"/>
                    <a:pt x="0" y="666750"/>
                    <a:pt x="0" y="666750"/>
                  </a:cubicBezTo>
                  <a:lnTo>
                    <a:pt x="0" y="0"/>
                  </a:lnTo>
                  <a:cubicBezTo>
                    <a:pt x="0" y="0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E6F1FB"/>
            </a:solidFill>
            <a:ln w="5715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78C3E44-9946-7300-2609-7FE6FFAAB9E7}"/>
                </a:ext>
              </a:extLst>
            </p:cNvPr>
            <p:cNvSpPr/>
            <p:nvPr/>
          </p:nvSpPr>
          <p:spPr>
            <a:xfrm>
              <a:off x="4038600" y="5876925"/>
              <a:ext cx="190500" cy="190500"/>
            </a:xfrm>
            <a:custGeom>
              <a:avLst/>
              <a:gdLst>
                <a:gd name="csX0" fmla="*/ 190500 w 190500"/>
                <a:gd name="csY0" fmla="*/ 95250 h 190500"/>
                <a:gd name="csX1" fmla="*/ 95250 w 190500"/>
                <a:gd name="csY1" fmla="*/ 190500 h 190500"/>
                <a:gd name="csX2" fmla="*/ 0 w 190500"/>
                <a:gd name="csY2" fmla="*/ 95250 h 190500"/>
                <a:gd name="csX3" fmla="*/ 95250 w 190500"/>
                <a:gd name="csY3" fmla="*/ 0 h 190500"/>
                <a:gd name="csX4" fmla="*/ 190500 w 190500"/>
                <a:gd name="csY4" fmla="*/ 95250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500" h="190500">
                  <a:moveTo>
                    <a:pt x="190500" y="95250"/>
                  </a:move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cubicBezTo>
                    <a:pt x="0" y="42645"/>
                    <a:pt x="42645" y="0"/>
                    <a:pt x="95250" y="0"/>
                  </a:cubicBezTo>
                  <a:cubicBezTo>
                    <a:pt x="147855" y="0"/>
                    <a:pt x="190500" y="42645"/>
                    <a:pt x="190500" y="95250"/>
                  </a:cubicBezTo>
                  <a:close/>
                </a:path>
              </a:pathLst>
            </a:custGeom>
            <a:solidFill>
              <a:srgbClr val="E6F1FB"/>
            </a:solidFill>
            <a:ln w="12383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3298157E-0417-F658-94E6-2C37617A703F}"/>
                </a:ext>
              </a:extLst>
            </p:cNvPr>
            <p:cNvSpPr/>
            <p:nvPr/>
          </p:nvSpPr>
          <p:spPr>
            <a:xfrm>
              <a:off x="4095750" y="5934075"/>
              <a:ext cx="76200" cy="76200"/>
            </a:xfrm>
            <a:custGeom>
              <a:avLst/>
              <a:gdLst>
                <a:gd name="csX0" fmla="*/ 76200 w 76200"/>
                <a:gd name="csY0" fmla="*/ 38100 h 76200"/>
                <a:gd name="csX1" fmla="*/ 38100 w 76200"/>
                <a:gd name="csY1" fmla="*/ 76200 h 76200"/>
                <a:gd name="csX2" fmla="*/ 0 w 76200"/>
                <a:gd name="csY2" fmla="*/ 38100 h 76200"/>
                <a:gd name="csX3" fmla="*/ 38100 w 76200"/>
                <a:gd name="csY3" fmla="*/ 0 h 76200"/>
                <a:gd name="csX4" fmla="*/ 76200 w 76200"/>
                <a:gd name="csY4" fmla="*/ 381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59142"/>
                    <a:pt x="59142" y="76200"/>
                    <a:pt x="38100" y="76200"/>
                  </a:cubicBezTo>
                  <a:cubicBezTo>
                    <a:pt x="17058" y="76200"/>
                    <a:pt x="0" y="59142"/>
                    <a:pt x="0" y="38100"/>
                  </a:cubicBezTo>
                  <a:cubicBezTo>
                    <a:pt x="0" y="17058"/>
                    <a:pt x="17058" y="0"/>
                    <a:pt x="38100" y="0"/>
                  </a:cubicBezTo>
                  <a:cubicBezTo>
                    <a:pt x="59142" y="0"/>
                    <a:pt x="76200" y="17058"/>
                    <a:pt x="76200" y="38100"/>
                  </a:cubicBezTo>
                  <a:close/>
                </a:path>
              </a:pathLst>
            </a:custGeom>
            <a:solidFill>
              <a:srgbClr val="E6F1FB"/>
            </a:solidFill>
            <a:ln w="10478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D703FD0-5650-7C57-3565-32EA993F8DA4}"/>
                </a:ext>
              </a:extLst>
            </p:cNvPr>
            <p:cNvSpPr/>
            <p:nvPr/>
          </p:nvSpPr>
          <p:spPr>
            <a:xfrm>
              <a:off x="4133850" y="5848350"/>
              <a:ext cx="9525" cy="28575"/>
            </a:xfrm>
            <a:custGeom>
              <a:avLst/>
              <a:gdLst>
                <a:gd name="csX0" fmla="*/ 0 w 9525"/>
                <a:gd name="csY0" fmla="*/ 0 h 28575"/>
                <a:gd name="csX1" fmla="*/ 0 w 9525"/>
                <a:gd name="csY1" fmla="*/ 28575 h 285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ln w="14288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CFD695E8-6AF1-B01D-860E-582A47AF4BD0}"/>
                </a:ext>
              </a:extLst>
            </p:cNvPr>
            <p:cNvSpPr/>
            <p:nvPr/>
          </p:nvSpPr>
          <p:spPr>
            <a:xfrm>
              <a:off x="4133850" y="6067425"/>
              <a:ext cx="9525" cy="28575"/>
            </a:xfrm>
            <a:custGeom>
              <a:avLst/>
              <a:gdLst>
                <a:gd name="csX0" fmla="*/ 0 w 9525"/>
                <a:gd name="csY0" fmla="*/ 0 h 28575"/>
                <a:gd name="csX1" fmla="*/ 0 w 9525"/>
                <a:gd name="csY1" fmla="*/ 28575 h 285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ln w="14288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23CE75A-AE45-50EA-E764-2A19B5D1448F}"/>
                </a:ext>
              </a:extLst>
            </p:cNvPr>
            <p:cNvSpPr/>
            <p:nvPr/>
          </p:nvSpPr>
          <p:spPr>
            <a:xfrm>
              <a:off x="4010025" y="5972175"/>
              <a:ext cx="28575" cy="9525"/>
            </a:xfrm>
            <a:custGeom>
              <a:avLst/>
              <a:gdLst>
                <a:gd name="csX0" fmla="*/ 0 w 28575"/>
                <a:gd name="csY0" fmla="*/ 0 h 9525"/>
                <a:gd name="csX1" fmla="*/ 28575 w 2857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ln w="14288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6519B8D-C9A8-57C2-F304-E6BB7444BF02}"/>
                </a:ext>
              </a:extLst>
            </p:cNvPr>
            <p:cNvSpPr/>
            <p:nvPr/>
          </p:nvSpPr>
          <p:spPr>
            <a:xfrm>
              <a:off x="4229100" y="5972175"/>
              <a:ext cx="28575" cy="9525"/>
            </a:xfrm>
            <a:custGeom>
              <a:avLst/>
              <a:gdLst>
                <a:gd name="csX0" fmla="*/ 0 w 28575"/>
                <a:gd name="csY0" fmla="*/ 0 h 9525"/>
                <a:gd name="csX1" fmla="*/ 28575 w 2857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ln w="14288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E96209C5-1B77-25E9-EB4B-415A1F99D5A2}"/>
                </a:ext>
              </a:extLst>
            </p:cNvPr>
            <p:cNvSpPr/>
            <p:nvPr/>
          </p:nvSpPr>
          <p:spPr>
            <a:xfrm>
              <a:off x="4038600" y="5886450"/>
              <a:ext cx="19050" cy="19050"/>
            </a:xfrm>
            <a:custGeom>
              <a:avLst/>
              <a:gdLst>
                <a:gd name="csX0" fmla="*/ 0 w 19050"/>
                <a:gd name="csY0" fmla="*/ 0 h 19050"/>
                <a:gd name="csX1" fmla="*/ 19050 w 19050"/>
                <a:gd name="csY1" fmla="*/ 1905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" h="19050">
                  <a:moveTo>
                    <a:pt x="0" y="0"/>
                  </a:moveTo>
                  <a:lnTo>
                    <a:pt x="19050" y="1905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62B30E8-5338-2A6E-D33E-747A5BDBE498}"/>
                </a:ext>
              </a:extLst>
            </p:cNvPr>
            <p:cNvSpPr/>
            <p:nvPr/>
          </p:nvSpPr>
          <p:spPr>
            <a:xfrm>
              <a:off x="4210050" y="6038850"/>
              <a:ext cx="19050" cy="19050"/>
            </a:xfrm>
            <a:custGeom>
              <a:avLst/>
              <a:gdLst>
                <a:gd name="csX0" fmla="*/ 0 w 19050"/>
                <a:gd name="csY0" fmla="*/ 0 h 19050"/>
                <a:gd name="csX1" fmla="*/ 19050 w 19050"/>
                <a:gd name="csY1" fmla="*/ 1905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" h="19050">
                  <a:moveTo>
                    <a:pt x="0" y="0"/>
                  </a:moveTo>
                  <a:lnTo>
                    <a:pt x="19050" y="1905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723A200F-6B95-0685-B6E6-05AE70A570F2}"/>
                </a:ext>
              </a:extLst>
            </p:cNvPr>
            <p:cNvSpPr/>
            <p:nvPr/>
          </p:nvSpPr>
          <p:spPr>
            <a:xfrm>
              <a:off x="4038600" y="6038850"/>
              <a:ext cx="19050" cy="19050"/>
            </a:xfrm>
            <a:custGeom>
              <a:avLst/>
              <a:gdLst>
                <a:gd name="csX0" fmla="*/ 0 w 19050"/>
                <a:gd name="csY0" fmla="*/ 19050 h 19050"/>
                <a:gd name="csX1" fmla="*/ 19050 w 19050"/>
                <a:gd name="csY1" fmla="*/ 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" h="19050">
                  <a:moveTo>
                    <a:pt x="0" y="19050"/>
                  </a:moveTo>
                  <a:lnTo>
                    <a:pt x="19050" y="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FE64549D-22FB-661A-EA49-78A6161D7DA0}"/>
                </a:ext>
              </a:extLst>
            </p:cNvPr>
            <p:cNvSpPr/>
            <p:nvPr/>
          </p:nvSpPr>
          <p:spPr>
            <a:xfrm>
              <a:off x="4210050" y="5886450"/>
              <a:ext cx="19050" cy="19050"/>
            </a:xfrm>
            <a:custGeom>
              <a:avLst/>
              <a:gdLst>
                <a:gd name="csX0" fmla="*/ 0 w 19050"/>
                <a:gd name="csY0" fmla="*/ 19050 h 19050"/>
                <a:gd name="csX1" fmla="*/ 19050 w 19050"/>
                <a:gd name="csY1" fmla="*/ 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" h="19050">
                  <a:moveTo>
                    <a:pt x="0" y="19050"/>
                  </a:moveTo>
                  <a:lnTo>
                    <a:pt x="19050" y="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D6B5F72-CE8E-5EA2-BB2B-771F2E27F8CC}"/>
                </a:ext>
              </a:extLst>
            </p:cNvPr>
            <p:cNvSpPr txBox="1"/>
            <p:nvPr/>
          </p:nvSpPr>
          <p:spPr>
            <a:xfrm>
              <a:off x="4625681" y="5658731"/>
              <a:ext cx="86433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0C447C"/>
                  </a:solidFill>
                  <a:latin typeface="Segoe UI"/>
                  <a:cs typeface="Segoe UI"/>
                  <a:sym typeface="Segoe UI"/>
                  <a:rtl val="0"/>
                </a:rPr>
                <a:t>Tool calling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207EDA-031A-676E-3B16-4A8B4BFDB3E8}"/>
                </a:ext>
              </a:extLst>
            </p:cNvPr>
            <p:cNvSpPr txBox="1"/>
            <p:nvPr/>
          </p:nvSpPr>
          <p:spPr>
            <a:xfrm>
              <a:off x="4369794" y="5850738"/>
              <a:ext cx="13740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Plan · execute · observe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37F2645-AA68-D563-80AF-F91871AEBDA6}"/>
                </a:ext>
              </a:extLst>
            </p:cNvPr>
            <p:cNvSpPr txBox="1"/>
            <p:nvPr/>
          </p:nvSpPr>
          <p:spPr>
            <a:xfrm>
              <a:off x="4431744" y="6003138"/>
              <a:ext cx="12458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>
                  <a:ln/>
                  <a:solidFill>
                    <a:srgbClr val="185FA5"/>
                  </a:solidFill>
                  <a:latin typeface="Segoe UI"/>
                  <a:cs typeface="Segoe UI"/>
                  <a:sym typeface="Segoe UI"/>
                  <a:rtl val="0"/>
                </a:rPr>
                <a:t>Multi-step reasoning</a:t>
              </a:r>
            </a:p>
          </p:txBody>
        </p:sp>
      </p:grpSp>
      <p:sp>
        <p:nvSpPr>
          <p:cNvPr id="68" name="Freeform 67">
            <a:extLst>
              <a:ext uri="{FF2B5EF4-FFF2-40B4-BE49-F238E27FC236}">
                <a16:creationId xmlns:a16="http://schemas.microsoft.com/office/drawing/2014/main" id="{770C5E8E-1775-6E7A-2A26-C586FE757BAF}"/>
              </a:ext>
            </a:extLst>
          </p:cNvPr>
          <p:cNvSpPr/>
          <p:nvPr/>
        </p:nvSpPr>
        <p:spPr>
          <a:xfrm>
            <a:off x="4924428" y="4457700"/>
            <a:ext cx="9525" cy="304800"/>
          </a:xfrm>
          <a:custGeom>
            <a:avLst/>
            <a:gdLst>
              <a:gd name="csX0" fmla="*/ 0 w 9525"/>
              <a:gd name="csY0" fmla="*/ 0 h 304800"/>
              <a:gd name="csX1" fmla="*/ 0 w 9525"/>
              <a:gd name="csY1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1430" cap="flat">
            <a:solidFill>
              <a:srgbClr val="185FA5"/>
            </a:solidFill>
            <a:prstDash val="solid"/>
            <a:miter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C2366922-23A6-EA15-E60A-0968113F12D8}"/>
              </a:ext>
            </a:extLst>
          </p:cNvPr>
          <p:cNvSpPr/>
          <p:nvPr/>
        </p:nvSpPr>
        <p:spPr>
          <a:xfrm>
            <a:off x="4714878" y="4457700"/>
            <a:ext cx="9525" cy="304800"/>
          </a:xfrm>
          <a:custGeom>
            <a:avLst/>
            <a:gdLst>
              <a:gd name="csX0" fmla="*/ 0 w 9525"/>
              <a:gd name="csY0" fmla="*/ 304800 h 304800"/>
              <a:gd name="csX1" fmla="*/ 0 w 9525"/>
              <a:gd name="csY1" fmla="*/ 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ln w="11430" cap="flat">
            <a:solidFill>
              <a:srgbClr val="185FA5"/>
            </a:solidFill>
            <a:prstDash val="solid"/>
            <a:miter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726DD9C0-D1BF-0559-8829-62B6449F641E}"/>
              </a:ext>
            </a:extLst>
          </p:cNvPr>
          <p:cNvSpPr/>
          <p:nvPr/>
        </p:nvSpPr>
        <p:spPr>
          <a:xfrm>
            <a:off x="647700" y="4762500"/>
            <a:ext cx="5562600" cy="1333500"/>
          </a:xfrm>
          <a:custGeom>
            <a:avLst/>
            <a:gdLst>
              <a:gd name="csX0" fmla="*/ 5467350 w 5562600"/>
              <a:gd name="csY0" fmla="*/ 0 h 1333500"/>
              <a:gd name="csX1" fmla="*/ 5562600 w 5562600"/>
              <a:gd name="csY1" fmla="*/ 0 h 1333500"/>
              <a:gd name="csX2" fmla="*/ 5562600 w 5562600"/>
              <a:gd name="csY2" fmla="*/ 1333500 h 1333500"/>
              <a:gd name="csX3" fmla="*/ 5467350 w 5562600"/>
              <a:gd name="csY3" fmla="*/ 1333500 h 1333500"/>
              <a:gd name="csX4" fmla="*/ 95250 w 5562600"/>
              <a:gd name="csY4" fmla="*/ 1333500 h 1333500"/>
              <a:gd name="csX5" fmla="*/ 0 w 5562600"/>
              <a:gd name="csY5" fmla="*/ 1333500 h 1333500"/>
              <a:gd name="csX6" fmla="*/ 0 w 5562600"/>
              <a:gd name="csY6" fmla="*/ 0 h 1333500"/>
              <a:gd name="csX7" fmla="*/ 95250 w 5562600"/>
              <a:gd name="csY7" fmla="*/ 0 h 133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562600" h="1333500">
                <a:moveTo>
                  <a:pt x="5467350" y="0"/>
                </a:moveTo>
                <a:cubicBezTo>
                  <a:pt x="5519955" y="0"/>
                  <a:pt x="5562600" y="0"/>
                  <a:pt x="5562600" y="0"/>
                </a:cubicBezTo>
                <a:lnTo>
                  <a:pt x="5562600" y="1333500"/>
                </a:lnTo>
                <a:cubicBezTo>
                  <a:pt x="5562600" y="1333500"/>
                  <a:pt x="5519955" y="1333500"/>
                  <a:pt x="5467350" y="1333500"/>
                </a:cubicBezTo>
                <a:lnTo>
                  <a:pt x="95250" y="1333500"/>
                </a:lnTo>
                <a:cubicBezTo>
                  <a:pt x="42645" y="1333500"/>
                  <a:pt x="0" y="1333500"/>
                  <a:pt x="0" y="13335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solidFill>
            <a:srgbClr val="E6F1FB"/>
          </a:solidFill>
          <a:ln w="6667" cap="flat">
            <a:solidFill>
              <a:srgbClr val="378ADD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CA1808-7E36-281B-6FB2-88BA641AA2CB}"/>
              </a:ext>
            </a:extLst>
          </p:cNvPr>
          <p:cNvSpPr txBox="1"/>
          <p:nvPr/>
        </p:nvSpPr>
        <p:spPr>
          <a:xfrm>
            <a:off x="708660" y="4745838"/>
            <a:ext cx="1465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Tools Registry </a:t>
            </a:r>
            <a:r>
              <a:rPr lang="en-US" sz="900" i="1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(examples)</a:t>
            </a: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E4F8FD1B-D766-1AFE-3B26-0A5ADBE2F865}"/>
              </a:ext>
            </a:extLst>
          </p:cNvPr>
          <p:cNvSpPr/>
          <p:nvPr/>
        </p:nvSpPr>
        <p:spPr>
          <a:xfrm>
            <a:off x="781050" y="4991100"/>
            <a:ext cx="1619250" cy="952500"/>
          </a:xfrm>
          <a:custGeom>
            <a:avLst/>
            <a:gdLst>
              <a:gd name="csX0" fmla="*/ 1543050 w 1619250"/>
              <a:gd name="csY0" fmla="*/ 0 h 952500"/>
              <a:gd name="csX1" fmla="*/ 1619250 w 1619250"/>
              <a:gd name="csY1" fmla="*/ 0 h 952500"/>
              <a:gd name="csX2" fmla="*/ 1619250 w 1619250"/>
              <a:gd name="csY2" fmla="*/ 952500 h 952500"/>
              <a:gd name="csX3" fmla="*/ 1543050 w 1619250"/>
              <a:gd name="csY3" fmla="*/ 952500 h 952500"/>
              <a:gd name="csX4" fmla="*/ 76200 w 1619250"/>
              <a:gd name="csY4" fmla="*/ 952500 h 952500"/>
              <a:gd name="csX5" fmla="*/ 0 w 1619250"/>
              <a:gd name="csY5" fmla="*/ 952500 h 952500"/>
              <a:gd name="csX6" fmla="*/ 0 w 1619250"/>
              <a:gd name="csY6" fmla="*/ 0 h 952500"/>
              <a:gd name="csX7" fmla="*/ 76200 w 1619250"/>
              <a:gd name="csY7" fmla="*/ 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619250" h="952500">
                <a:moveTo>
                  <a:pt x="1543050" y="0"/>
                </a:moveTo>
                <a:cubicBezTo>
                  <a:pt x="1585134" y="0"/>
                  <a:pt x="1619250" y="0"/>
                  <a:pt x="1619250" y="0"/>
                </a:cubicBezTo>
                <a:lnTo>
                  <a:pt x="1619250" y="952500"/>
                </a:lnTo>
                <a:cubicBezTo>
                  <a:pt x="1619250" y="952500"/>
                  <a:pt x="1585134" y="952500"/>
                  <a:pt x="1543050" y="952500"/>
                </a:cubicBezTo>
                <a:lnTo>
                  <a:pt x="76200" y="952500"/>
                </a:lnTo>
                <a:cubicBezTo>
                  <a:pt x="34116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B5D4F4"/>
          </a:solidFill>
          <a:ln w="5715" cap="flat">
            <a:solidFill>
              <a:srgbClr val="185FA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4727E16-13AC-01A9-B95A-4065548CFDE3}"/>
              </a:ext>
            </a:extLst>
          </p:cNvPr>
          <p:cNvGrpSpPr/>
          <p:nvPr/>
        </p:nvGrpSpPr>
        <p:grpSpPr>
          <a:xfrm>
            <a:off x="866113" y="5281470"/>
            <a:ext cx="190500" cy="171450"/>
            <a:chOff x="952500" y="7162800"/>
            <a:chExt cx="190500" cy="171450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0FEDD67-AD25-38FB-0704-66797A097F3E}"/>
                </a:ext>
              </a:extLst>
            </p:cNvPr>
            <p:cNvSpPr/>
            <p:nvPr/>
          </p:nvSpPr>
          <p:spPr>
            <a:xfrm>
              <a:off x="1009650" y="7181850"/>
              <a:ext cx="133350" cy="9525"/>
            </a:xfrm>
            <a:custGeom>
              <a:avLst/>
              <a:gdLst>
                <a:gd name="csX0" fmla="*/ 0 w 133350"/>
                <a:gd name="csY0" fmla="*/ 0 h 9525"/>
                <a:gd name="csX1" fmla="*/ 133350 w 13335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46E3EBA-DF6B-7303-677C-A80B42DFA6C1}"/>
                </a:ext>
              </a:extLst>
            </p:cNvPr>
            <p:cNvSpPr/>
            <p:nvPr/>
          </p:nvSpPr>
          <p:spPr>
            <a:xfrm>
              <a:off x="1009650" y="7248525"/>
              <a:ext cx="133350" cy="9525"/>
            </a:xfrm>
            <a:custGeom>
              <a:avLst/>
              <a:gdLst>
                <a:gd name="csX0" fmla="*/ 0 w 133350"/>
                <a:gd name="csY0" fmla="*/ 0 h 9525"/>
                <a:gd name="csX1" fmla="*/ 133350 w 13335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230C17D5-4E29-2AC2-EBEF-6F023531598A}"/>
                </a:ext>
              </a:extLst>
            </p:cNvPr>
            <p:cNvSpPr/>
            <p:nvPr/>
          </p:nvSpPr>
          <p:spPr>
            <a:xfrm>
              <a:off x="1009650" y="7315200"/>
              <a:ext cx="95250" cy="9525"/>
            </a:xfrm>
            <a:custGeom>
              <a:avLst/>
              <a:gdLst>
                <a:gd name="csX0" fmla="*/ 0 w 95250"/>
                <a:gd name="csY0" fmla="*/ 0 h 9525"/>
                <a:gd name="csX1" fmla="*/ 95250 w 9525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13335" cap="rnd">
              <a:solidFill>
                <a:srgbClr val="0C447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3A144BA-D291-9219-EC9D-38E278DA5557}"/>
                </a:ext>
              </a:extLst>
            </p:cNvPr>
            <p:cNvSpPr/>
            <p:nvPr/>
          </p:nvSpPr>
          <p:spPr>
            <a:xfrm>
              <a:off x="952500" y="7162800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C447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559289DE-562C-A5B2-B6DE-EA5D904D5C54}"/>
                </a:ext>
              </a:extLst>
            </p:cNvPr>
            <p:cNvSpPr/>
            <p:nvPr/>
          </p:nvSpPr>
          <p:spPr>
            <a:xfrm>
              <a:off x="952500" y="72294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C447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1DDF0340-EE51-78C1-F358-6450BEA56C3D}"/>
                </a:ext>
              </a:extLst>
            </p:cNvPr>
            <p:cNvSpPr/>
            <p:nvPr/>
          </p:nvSpPr>
          <p:spPr>
            <a:xfrm>
              <a:off x="952500" y="7296150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C447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A57685F-A7CE-F887-6DE5-153A79768437}"/>
              </a:ext>
            </a:extLst>
          </p:cNvPr>
          <p:cNvSpPr txBox="1"/>
          <p:nvPr/>
        </p:nvSpPr>
        <p:spPr>
          <a:xfrm>
            <a:off x="1007530" y="5014686"/>
            <a:ext cx="12330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Catalog discovery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A77F8C-BD39-8488-D649-77E839681BCA}"/>
              </a:ext>
            </a:extLst>
          </p:cNvPr>
          <p:cNvSpPr txBox="1"/>
          <p:nvPr/>
        </p:nvSpPr>
        <p:spPr>
          <a:xfrm>
            <a:off x="1202955" y="5318201"/>
            <a:ext cx="1136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Search datasets and variables by topic, or attribute</a:t>
            </a:r>
          </a:p>
          <a:p>
            <a:pPr algn="l"/>
            <a:endParaRPr lang="en-US" sz="900" dirty="0">
              <a:ln/>
              <a:solidFill>
                <a:srgbClr val="3D3D3A"/>
              </a:solidFill>
              <a:latin typeface="Segoe UI"/>
              <a:cs typeface="Segoe UI"/>
              <a:sym typeface="Segoe UI"/>
              <a:rtl val="0"/>
            </a:endParaRPr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69426CA9-74D3-1640-AE62-07C969DA6733}"/>
              </a:ext>
            </a:extLst>
          </p:cNvPr>
          <p:cNvSpPr/>
          <p:nvPr/>
        </p:nvSpPr>
        <p:spPr>
          <a:xfrm>
            <a:off x="2590800" y="4991100"/>
            <a:ext cx="1619250" cy="952500"/>
          </a:xfrm>
          <a:custGeom>
            <a:avLst/>
            <a:gdLst>
              <a:gd name="csX0" fmla="*/ 1543050 w 1619250"/>
              <a:gd name="csY0" fmla="*/ 0 h 952500"/>
              <a:gd name="csX1" fmla="*/ 1619250 w 1619250"/>
              <a:gd name="csY1" fmla="*/ 0 h 952500"/>
              <a:gd name="csX2" fmla="*/ 1619250 w 1619250"/>
              <a:gd name="csY2" fmla="*/ 952500 h 952500"/>
              <a:gd name="csX3" fmla="*/ 1543050 w 1619250"/>
              <a:gd name="csY3" fmla="*/ 952500 h 952500"/>
              <a:gd name="csX4" fmla="*/ 76200 w 1619250"/>
              <a:gd name="csY4" fmla="*/ 952500 h 952500"/>
              <a:gd name="csX5" fmla="*/ 0 w 1619250"/>
              <a:gd name="csY5" fmla="*/ 952500 h 952500"/>
              <a:gd name="csX6" fmla="*/ 0 w 1619250"/>
              <a:gd name="csY6" fmla="*/ 0 h 952500"/>
              <a:gd name="csX7" fmla="*/ 76200 w 1619250"/>
              <a:gd name="csY7" fmla="*/ 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619250" h="952500">
                <a:moveTo>
                  <a:pt x="1543050" y="0"/>
                </a:moveTo>
                <a:cubicBezTo>
                  <a:pt x="1585134" y="0"/>
                  <a:pt x="1619250" y="0"/>
                  <a:pt x="1619250" y="0"/>
                </a:cubicBezTo>
                <a:lnTo>
                  <a:pt x="1619250" y="952500"/>
                </a:lnTo>
                <a:cubicBezTo>
                  <a:pt x="1619250" y="952500"/>
                  <a:pt x="1585134" y="952500"/>
                  <a:pt x="1543050" y="952500"/>
                </a:cubicBezTo>
                <a:lnTo>
                  <a:pt x="76200" y="952500"/>
                </a:lnTo>
                <a:cubicBezTo>
                  <a:pt x="34116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B5D4F4"/>
          </a:solidFill>
          <a:ln w="5715" cap="flat">
            <a:solidFill>
              <a:srgbClr val="185FA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0FD65B18-FF25-5220-0803-8AA3A8FFDBCE}"/>
              </a:ext>
            </a:extLst>
          </p:cNvPr>
          <p:cNvSpPr/>
          <p:nvPr/>
        </p:nvSpPr>
        <p:spPr>
          <a:xfrm>
            <a:off x="2781300" y="5305424"/>
            <a:ext cx="457200" cy="95250"/>
          </a:xfrm>
          <a:custGeom>
            <a:avLst/>
            <a:gdLst>
              <a:gd name="csX0" fmla="*/ 0 w 457200"/>
              <a:gd name="csY0" fmla="*/ 47625 h 95250"/>
              <a:gd name="csX1" fmla="*/ 152400 w 457200"/>
              <a:gd name="csY1" fmla="*/ 47625 h 95250"/>
              <a:gd name="csX2" fmla="*/ 304800 w 457200"/>
              <a:gd name="csY2" fmla="*/ 47625 h 95250"/>
              <a:gd name="csX3" fmla="*/ 457200 w 457200"/>
              <a:gd name="csY3" fmla="*/ 47625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7200" h="95250">
                <a:moveTo>
                  <a:pt x="0" y="47625"/>
                </a:moveTo>
                <a:cubicBezTo>
                  <a:pt x="50800" y="-15875"/>
                  <a:pt x="101600" y="-15875"/>
                  <a:pt x="152400" y="47625"/>
                </a:cubicBezTo>
                <a:cubicBezTo>
                  <a:pt x="203200" y="111125"/>
                  <a:pt x="254000" y="111125"/>
                  <a:pt x="304800" y="47625"/>
                </a:cubicBezTo>
                <a:cubicBezTo>
                  <a:pt x="355600" y="-15875"/>
                  <a:pt x="406400" y="-15875"/>
                  <a:pt x="457200" y="47625"/>
                </a:cubicBezTo>
              </a:path>
            </a:pathLst>
          </a:custGeom>
          <a:noFill/>
          <a:ln w="14288" cap="rnd">
            <a:solidFill>
              <a:srgbClr val="0C447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C7D7DEA3-CD0D-3FDB-E95D-D5DD782F888E}"/>
              </a:ext>
            </a:extLst>
          </p:cNvPr>
          <p:cNvSpPr/>
          <p:nvPr/>
        </p:nvSpPr>
        <p:spPr>
          <a:xfrm>
            <a:off x="2781300" y="5400674"/>
            <a:ext cx="457200" cy="95250"/>
          </a:xfrm>
          <a:custGeom>
            <a:avLst/>
            <a:gdLst>
              <a:gd name="csX0" fmla="*/ 0 w 457200"/>
              <a:gd name="csY0" fmla="*/ 47625 h 95250"/>
              <a:gd name="csX1" fmla="*/ 152400 w 457200"/>
              <a:gd name="csY1" fmla="*/ 47625 h 95250"/>
              <a:gd name="csX2" fmla="*/ 304800 w 457200"/>
              <a:gd name="csY2" fmla="*/ 47625 h 95250"/>
              <a:gd name="csX3" fmla="*/ 457200 w 457200"/>
              <a:gd name="csY3" fmla="*/ 47625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7200" h="95250">
                <a:moveTo>
                  <a:pt x="0" y="47625"/>
                </a:moveTo>
                <a:cubicBezTo>
                  <a:pt x="50800" y="-15875"/>
                  <a:pt x="101600" y="-15875"/>
                  <a:pt x="152400" y="47625"/>
                </a:cubicBezTo>
                <a:cubicBezTo>
                  <a:pt x="203200" y="111125"/>
                  <a:pt x="254000" y="111125"/>
                  <a:pt x="304800" y="47625"/>
                </a:cubicBezTo>
                <a:cubicBezTo>
                  <a:pt x="355600" y="-15875"/>
                  <a:pt x="406400" y="-15875"/>
                  <a:pt x="457200" y="47625"/>
                </a:cubicBezTo>
              </a:path>
            </a:pathLst>
          </a:custGeom>
          <a:noFill/>
          <a:ln w="9525" cap="rnd">
            <a:solidFill>
              <a:srgbClr val="0C447C">
                <a:alpha val="5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7F8C12-4676-42F2-FE2C-C783993B276D}"/>
              </a:ext>
            </a:extLst>
          </p:cNvPr>
          <p:cNvSpPr txBox="1"/>
          <p:nvPr/>
        </p:nvSpPr>
        <p:spPr>
          <a:xfrm>
            <a:off x="2771827" y="5030081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Retrieval-Analysis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7ADABF-4B5E-F690-8C26-E108C44FE5C4}"/>
              </a:ext>
            </a:extLst>
          </p:cNvPr>
          <p:cNvSpPr txBox="1"/>
          <p:nvPr/>
        </p:nvSpPr>
        <p:spPr>
          <a:xfrm>
            <a:off x="2712350" y="5476903"/>
            <a:ext cx="1415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Data subset, time series,</a:t>
            </a:r>
            <a:b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</a:br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and data integration</a:t>
            </a:r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05FC8152-7FF8-9F9F-268C-08B47CDE204E}"/>
              </a:ext>
            </a:extLst>
          </p:cNvPr>
          <p:cNvSpPr/>
          <p:nvPr/>
        </p:nvSpPr>
        <p:spPr>
          <a:xfrm>
            <a:off x="4400550" y="4991100"/>
            <a:ext cx="1619250" cy="952500"/>
          </a:xfrm>
          <a:custGeom>
            <a:avLst/>
            <a:gdLst>
              <a:gd name="csX0" fmla="*/ 1543050 w 1619250"/>
              <a:gd name="csY0" fmla="*/ 0 h 952500"/>
              <a:gd name="csX1" fmla="*/ 1619250 w 1619250"/>
              <a:gd name="csY1" fmla="*/ 0 h 952500"/>
              <a:gd name="csX2" fmla="*/ 1619250 w 1619250"/>
              <a:gd name="csY2" fmla="*/ 952500 h 952500"/>
              <a:gd name="csX3" fmla="*/ 1543050 w 1619250"/>
              <a:gd name="csY3" fmla="*/ 952500 h 952500"/>
              <a:gd name="csX4" fmla="*/ 76200 w 1619250"/>
              <a:gd name="csY4" fmla="*/ 952500 h 952500"/>
              <a:gd name="csX5" fmla="*/ 0 w 1619250"/>
              <a:gd name="csY5" fmla="*/ 952500 h 952500"/>
              <a:gd name="csX6" fmla="*/ 0 w 1619250"/>
              <a:gd name="csY6" fmla="*/ 0 h 952500"/>
              <a:gd name="csX7" fmla="*/ 76200 w 1619250"/>
              <a:gd name="csY7" fmla="*/ 0 h 95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619250" h="952500">
                <a:moveTo>
                  <a:pt x="1543050" y="0"/>
                </a:moveTo>
                <a:cubicBezTo>
                  <a:pt x="1585134" y="0"/>
                  <a:pt x="1619250" y="0"/>
                  <a:pt x="1619250" y="0"/>
                </a:cubicBezTo>
                <a:lnTo>
                  <a:pt x="1619250" y="952500"/>
                </a:lnTo>
                <a:cubicBezTo>
                  <a:pt x="1619250" y="952500"/>
                  <a:pt x="1585134" y="952500"/>
                  <a:pt x="1543050" y="952500"/>
                </a:cubicBezTo>
                <a:lnTo>
                  <a:pt x="76200" y="952500"/>
                </a:lnTo>
                <a:cubicBezTo>
                  <a:pt x="34116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B5D4F4"/>
          </a:solidFill>
          <a:ln w="5715" cap="flat">
            <a:solidFill>
              <a:srgbClr val="185FA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839A2079-C76A-F9A1-D900-43813E98AD39}"/>
              </a:ext>
            </a:extLst>
          </p:cNvPr>
          <p:cNvSpPr/>
          <p:nvPr/>
        </p:nvSpPr>
        <p:spPr>
          <a:xfrm>
            <a:off x="4591050" y="5334000"/>
            <a:ext cx="76200" cy="152400"/>
          </a:xfrm>
          <a:custGeom>
            <a:avLst/>
            <a:gdLst>
              <a:gd name="csX0" fmla="*/ 66675 w 76200"/>
              <a:gd name="csY0" fmla="*/ 0 h 152400"/>
              <a:gd name="csX1" fmla="*/ 76200 w 76200"/>
              <a:gd name="csY1" fmla="*/ 0 h 152400"/>
              <a:gd name="csX2" fmla="*/ 76200 w 76200"/>
              <a:gd name="csY2" fmla="*/ 152400 h 152400"/>
              <a:gd name="csX3" fmla="*/ 66675 w 76200"/>
              <a:gd name="csY3" fmla="*/ 152400 h 152400"/>
              <a:gd name="csX4" fmla="*/ 9525 w 76200"/>
              <a:gd name="csY4" fmla="*/ 152400 h 152400"/>
              <a:gd name="csX5" fmla="*/ 0 w 76200"/>
              <a:gd name="csY5" fmla="*/ 152400 h 152400"/>
              <a:gd name="csX6" fmla="*/ 0 w 76200"/>
              <a:gd name="csY6" fmla="*/ 0 h 152400"/>
              <a:gd name="csX7" fmla="*/ 9525 w 76200"/>
              <a:gd name="csY7" fmla="*/ 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6200" h="152400">
                <a:moveTo>
                  <a:pt x="66675" y="0"/>
                </a:moveTo>
                <a:cubicBezTo>
                  <a:pt x="71935" y="0"/>
                  <a:pt x="76200" y="0"/>
                  <a:pt x="76200" y="0"/>
                </a:cubicBezTo>
                <a:lnTo>
                  <a:pt x="76200" y="152400"/>
                </a:lnTo>
                <a:cubicBezTo>
                  <a:pt x="76200" y="152400"/>
                  <a:pt x="71935" y="152400"/>
                  <a:pt x="66675" y="152400"/>
                </a:cubicBezTo>
                <a:lnTo>
                  <a:pt x="9525" y="152400"/>
                </a:lnTo>
                <a:cubicBezTo>
                  <a:pt x="4265" y="152400"/>
                  <a:pt x="0" y="152400"/>
                  <a:pt x="0" y="152400"/>
                </a:cubicBezTo>
                <a:lnTo>
                  <a:pt x="0" y="0"/>
                </a:lnTo>
                <a:cubicBezTo>
                  <a:pt x="0" y="0"/>
                  <a:pt x="4265" y="0"/>
                  <a:pt x="9525" y="0"/>
                </a:cubicBezTo>
                <a:close/>
              </a:path>
            </a:pathLst>
          </a:custGeom>
          <a:solidFill>
            <a:srgbClr val="0C447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041914D7-8928-B24C-FC89-7EC3BC7492EB}"/>
              </a:ext>
            </a:extLst>
          </p:cNvPr>
          <p:cNvSpPr/>
          <p:nvPr/>
        </p:nvSpPr>
        <p:spPr>
          <a:xfrm>
            <a:off x="4705350" y="5238750"/>
            <a:ext cx="76200" cy="247650"/>
          </a:xfrm>
          <a:custGeom>
            <a:avLst/>
            <a:gdLst>
              <a:gd name="csX0" fmla="*/ 66675 w 76200"/>
              <a:gd name="csY0" fmla="*/ 0 h 247650"/>
              <a:gd name="csX1" fmla="*/ 76200 w 76200"/>
              <a:gd name="csY1" fmla="*/ 0 h 247650"/>
              <a:gd name="csX2" fmla="*/ 76200 w 76200"/>
              <a:gd name="csY2" fmla="*/ 247650 h 247650"/>
              <a:gd name="csX3" fmla="*/ 66675 w 76200"/>
              <a:gd name="csY3" fmla="*/ 247650 h 247650"/>
              <a:gd name="csX4" fmla="*/ 9525 w 76200"/>
              <a:gd name="csY4" fmla="*/ 247650 h 247650"/>
              <a:gd name="csX5" fmla="*/ 0 w 76200"/>
              <a:gd name="csY5" fmla="*/ 247650 h 247650"/>
              <a:gd name="csX6" fmla="*/ 0 w 76200"/>
              <a:gd name="csY6" fmla="*/ 0 h 247650"/>
              <a:gd name="csX7" fmla="*/ 9525 w 76200"/>
              <a:gd name="csY7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6200" h="247650">
                <a:moveTo>
                  <a:pt x="66675" y="0"/>
                </a:moveTo>
                <a:cubicBezTo>
                  <a:pt x="71935" y="0"/>
                  <a:pt x="76200" y="0"/>
                  <a:pt x="76200" y="0"/>
                </a:cubicBezTo>
                <a:lnTo>
                  <a:pt x="76200" y="247650"/>
                </a:lnTo>
                <a:cubicBezTo>
                  <a:pt x="76200" y="247650"/>
                  <a:pt x="71935" y="247650"/>
                  <a:pt x="66675" y="247650"/>
                </a:cubicBezTo>
                <a:lnTo>
                  <a:pt x="9525" y="247650"/>
                </a:lnTo>
                <a:cubicBezTo>
                  <a:pt x="4265" y="247650"/>
                  <a:pt x="0" y="247650"/>
                  <a:pt x="0" y="247650"/>
                </a:cubicBezTo>
                <a:lnTo>
                  <a:pt x="0" y="0"/>
                </a:lnTo>
                <a:cubicBezTo>
                  <a:pt x="0" y="0"/>
                  <a:pt x="4265" y="0"/>
                  <a:pt x="9525" y="0"/>
                </a:cubicBezTo>
                <a:close/>
              </a:path>
            </a:pathLst>
          </a:custGeom>
          <a:solidFill>
            <a:srgbClr val="0C447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3D9C1B7F-7775-85E5-7778-4A8BDA02871C}"/>
              </a:ext>
            </a:extLst>
          </p:cNvPr>
          <p:cNvSpPr/>
          <p:nvPr/>
        </p:nvSpPr>
        <p:spPr>
          <a:xfrm>
            <a:off x="4819650" y="5276850"/>
            <a:ext cx="76200" cy="209550"/>
          </a:xfrm>
          <a:custGeom>
            <a:avLst/>
            <a:gdLst>
              <a:gd name="csX0" fmla="*/ 66675 w 76200"/>
              <a:gd name="csY0" fmla="*/ 0 h 209550"/>
              <a:gd name="csX1" fmla="*/ 76200 w 76200"/>
              <a:gd name="csY1" fmla="*/ 0 h 209550"/>
              <a:gd name="csX2" fmla="*/ 76200 w 76200"/>
              <a:gd name="csY2" fmla="*/ 209550 h 209550"/>
              <a:gd name="csX3" fmla="*/ 66675 w 76200"/>
              <a:gd name="csY3" fmla="*/ 209550 h 209550"/>
              <a:gd name="csX4" fmla="*/ 9525 w 76200"/>
              <a:gd name="csY4" fmla="*/ 209550 h 209550"/>
              <a:gd name="csX5" fmla="*/ 0 w 76200"/>
              <a:gd name="csY5" fmla="*/ 209550 h 209550"/>
              <a:gd name="csX6" fmla="*/ 0 w 76200"/>
              <a:gd name="csY6" fmla="*/ 0 h 209550"/>
              <a:gd name="csX7" fmla="*/ 9525 w 76200"/>
              <a:gd name="csY7" fmla="*/ 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6200" h="209550">
                <a:moveTo>
                  <a:pt x="66675" y="0"/>
                </a:moveTo>
                <a:cubicBezTo>
                  <a:pt x="71935" y="0"/>
                  <a:pt x="76200" y="0"/>
                  <a:pt x="76200" y="0"/>
                </a:cubicBezTo>
                <a:lnTo>
                  <a:pt x="76200" y="209550"/>
                </a:lnTo>
                <a:cubicBezTo>
                  <a:pt x="76200" y="209550"/>
                  <a:pt x="71935" y="209550"/>
                  <a:pt x="66675" y="209550"/>
                </a:cubicBezTo>
                <a:lnTo>
                  <a:pt x="9525" y="209550"/>
                </a:lnTo>
                <a:cubicBezTo>
                  <a:pt x="4265" y="209550"/>
                  <a:pt x="0" y="209550"/>
                  <a:pt x="0" y="209550"/>
                </a:cubicBezTo>
                <a:lnTo>
                  <a:pt x="0" y="0"/>
                </a:lnTo>
                <a:cubicBezTo>
                  <a:pt x="0" y="0"/>
                  <a:pt x="4265" y="0"/>
                  <a:pt x="9525" y="0"/>
                </a:cubicBezTo>
                <a:close/>
              </a:path>
            </a:pathLst>
          </a:custGeom>
          <a:solidFill>
            <a:srgbClr val="0C447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1370569F-A4A5-CF55-6B9B-C3265C500E3C}"/>
              </a:ext>
            </a:extLst>
          </p:cNvPr>
          <p:cNvSpPr/>
          <p:nvPr/>
        </p:nvSpPr>
        <p:spPr>
          <a:xfrm>
            <a:off x="4572000" y="5486403"/>
            <a:ext cx="361950" cy="9525"/>
          </a:xfrm>
          <a:custGeom>
            <a:avLst/>
            <a:gdLst>
              <a:gd name="csX0" fmla="*/ 0 w 361950"/>
              <a:gd name="csY0" fmla="*/ 0 h 9525"/>
              <a:gd name="csX1" fmla="*/ 361950 w 3619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9525" cap="rnd">
            <a:solidFill>
              <a:srgbClr val="0C447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FFBFE9-A353-B9C6-9DD8-EF6EFBBC9E93}"/>
              </a:ext>
            </a:extLst>
          </p:cNvPr>
          <p:cNvSpPr txBox="1"/>
          <p:nvPr/>
        </p:nvSpPr>
        <p:spPr>
          <a:xfrm>
            <a:off x="4987448" y="5030081"/>
            <a:ext cx="9300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Visualization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78C534A-9124-A6D7-A299-543521120421}"/>
              </a:ext>
            </a:extLst>
          </p:cNvPr>
          <p:cNvSpPr txBox="1"/>
          <p:nvPr/>
        </p:nvSpPr>
        <p:spPr>
          <a:xfrm>
            <a:off x="4913420" y="5279238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Maps, time-series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E99629F-0711-BD3D-383E-3753E1D6E380}"/>
              </a:ext>
            </a:extLst>
          </p:cNvPr>
          <p:cNvSpPr txBox="1"/>
          <p:nvPr/>
        </p:nvSpPr>
        <p:spPr>
          <a:xfrm>
            <a:off x="4896760" y="5431638"/>
            <a:ext cx="11128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plots, web context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2A86DA-ED1A-0CB3-B7C6-1F5A50340BF5}"/>
              </a:ext>
            </a:extLst>
          </p:cNvPr>
          <p:cNvSpPr txBox="1"/>
          <p:nvPr/>
        </p:nvSpPr>
        <p:spPr>
          <a:xfrm>
            <a:off x="5076495" y="5584038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and more...</a:t>
            </a:r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A68A6406-CD50-67F3-8ABC-96BEBFC89CA3}"/>
              </a:ext>
            </a:extLst>
          </p:cNvPr>
          <p:cNvSpPr/>
          <p:nvPr/>
        </p:nvSpPr>
        <p:spPr>
          <a:xfrm>
            <a:off x="3429003" y="6248400"/>
            <a:ext cx="9525" cy="285750"/>
          </a:xfrm>
          <a:custGeom>
            <a:avLst/>
            <a:gdLst>
              <a:gd name="csX0" fmla="*/ 0 w 9525"/>
              <a:gd name="csY0" fmla="*/ 0 h 285750"/>
              <a:gd name="csX1" fmla="*/ 0 w 9525"/>
              <a:gd name="csY1" fmla="*/ 285750 h 285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0260D951-4777-37FE-9E36-4A76C8731B81}"/>
              </a:ext>
            </a:extLst>
          </p:cNvPr>
          <p:cNvSpPr/>
          <p:nvPr/>
        </p:nvSpPr>
        <p:spPr>
          <a:xfrm>
            <a:off x="3200403" y="6248400"/>
            <a:ext cx="9525" cy="285750"/>
          </a:xfrm>
          <a:custGeom>
            <a:avLst/>
            <a:gdLst>
              <a:gd name="csX0" fmla="*/ 0 w 9525"/>
              <a:gd name="csY0" fmla="*/ 285750 h 285750"/>
              <a:gd name="csX1" fmla="*/ 0 w 9525"/>
              <a:gd name="csY1" fmla="*/ 0 h 285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A0498E0E-E7FC-94DA-4E0A-491F5AF23942}"/>
              </a:ext>
            </a:extLst>
          </p:cNvPr>
          <p:cNvSpPr/>
          <p:nvPr/>
        </p:nvSpPr>
        <p:spPr>
          <a:xfrm>
            <a:off x="476250" y="6534150"/>
            <a:ext cx="5905500" cy="666750"/>
          </a:xfrm>
          <a:custGeom>
            <a:avLst/>
            <a:gdLst>
              <a:gd name="csX0" fmla="*/ 5791200 w 5905500"/>
              <a:gd name="csY0" fmla="*/ 0 h 666750"/>
              <a:gd name="csX1" fmla="*/ 5905500 w 5905500"/>
              <a:gd name="csY1" fmla="*/ 0 h 666750"/>
              <a:gd name="csX2" fmla="*/ 5905500 w 5905500"/>
              <a:gd name="csY2" fmla="*/ 666750 h 666750"/>
              <a:gd name="csX3" fmla="*/ 5791200 w 5905500"/>
              <a:gd name="csY3" fmla="*/ 666750 h 666750"/>
              <a:gd name="csX4" fmla="*/ 114300 w 5905500"/>
              <a:gd name="csY4" fmla="*/ 666750 h 666750"/>
              <a:gd name="csX5" fmla="*/ 0 w 5905500"/>
              <a:gd name="csY5" fmla="*/ 666750 h 666750"/>
              <a:gd name="csX6" fmla="*/ 0 w 5905500"/>
              <a:gd name="csY6" fmla="*/ 0 h 666750"/>
              <a:gd name="csX7" fmla="*/ 114300 w 5905500"/>
              <a:gd name="csY7" fmla="*/ 0 h 666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905500" h="666750">
                <a:moveTo>
                  <a:pt x="5791200" y="0"/>
                </a:moveTo>
                <a:cubicBezTo>
                  <a:pt x="5854327" y="0"/>
                  <a:pt x="5905500" y="0"/>
                  <a:pt x="5905500" y="0"/>
                </a:cubicBezTo>
                <a:lnTo>
                  <a:pt x="5905500" y="666750"/>
                </a:lnTo>
                <a:cubicBezTo>
                  <a:pt x="5905500" y="666750"/>
                  <a:pt x="5854327" y="666750"/>
                  <a:pt x="5791200" y="666750"/>
                </a:cubicBezTo>
                <a:lnTo>
                  <a:pt x="114300" y="666750"/>
                </a:lnTo>
                <a:cubicBezTo>
                  <a:pt x="51174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51174" y="0"/>
                  <a:pt x="114300" y="0"/>
                </a:cubicBezTo>
                <a:close/>
              </a:path>
            </a:pathLst>
          </a:custGeom>
          <a:noFill/>
          <a:ln w="7620" cap="flat">
            <a:solidFill>
              <a:srgbClr val="B4B2A9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2F57777-B19A-E4E5-CEAB-EE122CD3DB58}"/>
              </a:ext>
            </a:extLst>
          </p:cNvPr>
          <p:cNvSpPr txBox="1"/>
          <p:nvPr/>
        </p:nvSpPr>
        <p:spPr>
          <a:xfrm>
            <a:off x="556263" y="6536538"/>
            <a:ext cx="5790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Storage</a:t>
            </a:r>
          </a:p>
        </p:txBody>
      </p:sp>
      <p:grpSp>
        <p:nvGrpSpPr>
          <p:cNvPr id="103" name="Graphic 4">
            <a:extLst>
              <a:ext uri="{FF2B5EF4-FFF2-40B4-BE49-F238E27FC236}">
                <a16:creationId xmlns:a16="http://schemas.microsoft.com/office/drawing/2014/main" id="{8566026E-F646-1F25-EC49-2F1FA2BA0373}"/>
              </a:ext>
            </a:extLst>
          </p:cNvPr>
          <p:cNvGrpSpPr/>
          <p:nvPr/>
        </p:nvGrpSpPr>
        <p:grpSpPr>
          <a:xfrm>
            <a:off x="628653" y="6716006"/>
            <a:ext cx="1734043" cy="408694"/>
            <a:chOff x="628650" y="8697206"/>
            <a:chExt cx="1734043" cy="408694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56533DF6-E98A-3B1C-8132-26FB8CAB5351}"/>
                </a:ext>
              </a:extLst>
            </p:cNvPr>
            <p:cNvSpPr/>
            <p:nvPr/>
          </p:nvSpPr>
          <p:spPr>
            <a:xfrm>
              <a:off x="628650" y="8743950"/>
              <a:ext cx="1695450" cy="361950"/>
            </a:xfrm>
            <a:custGeom>
              <a:avLst/>
              <a:gdLst>
                <a:gd name="csX0" fmla="*/ 1628775 w 1695450"/>
                <a:gd name="csY0" fmla="*/ 0 h 361950"/>
                <a:gd name="csX1" fmla="*/ 1695450 w 1695450"/>
                <a:gd name="csY1" fmla="*/ 0 h 361950"/>
                <a:gd name="csX2" fmla="*/ 1695450 w 1695450"/>
                <a:gd name="csY2" fmla="*/ 361950 h 361950"/>
                <a:gd name="csX3" fmla="*/ 1628775 w 1695450"/>
                <a:gd name="csY3" fmla="*/ 361950 h 361950"/>
                <a:gd name="csX4" fmla="*/ 66675 w 1695450"/>
                <a:gd name="csY4" fmla="*/ 361950 h 361950"/>
                <a:gd name="csX5" fmla="*/ 0 w 1695450"/>
                <a:gd name="csY5" fmla="*/ 361950 h 361950"/>
                <a:gd name="csX6" fmla="*/ 0 w 1695450"/>
                <a:gd name="csY6" fmla="*/ 0 h 361950"/>
                <a:gd name="csX7" fmla="*/ 66675 w 1695450"/>
                <a:gd name="csY7" fmla="*/ 0 h 361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5450" h="361950">
                  <a:moveTo>
                    <a:pt x="1628775" y="0"/>
                  </a:moveTo>
                  <a:cubicBezTo>
                    <a:pt x="1665599" y="0"/>
                    <a:pt x="1695450" y="0"/>
                    <a:pt x="1695450" y="0"/>
                  </a:cubicBezTo>
                  <a:lnTo>
                    <a:pt x="1695450" y="361950"/>
                  </a:lnTo>
                  <a:cubicBezTo>
                    <a:pt x="1695450" y="361950"/>
                    <a:pt x="1665599" y="361950"/>
                    <a:pt x="1628775" y="361950"/>
                  </a:cubicBezTo>
                  <a:lnTo>
                    <a:pt x="66675" y="361950"/>
                  </a:lnTo>
                  <a:cubicBezTo>
                    <a:pt x="29851" y="361950"/>
                    <a:pt x="0" y="361950"/>
                    <a:pt x="0" y="361950"/>
                  </a:cubicBezTo>
                  <a:lnTo>
                    <a:pt x="0" y="0"/>
                  </a:lnTo>
                  <a:cubicBezTo>
                    <a:pt x="0" y="0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F1EFE8"/>
            </a:solidFill>
            <a:ln w="4763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E1B9FB1-FDAE-85E0-DAEA-C6F074D77001}"/>
                </a:ext>
              </a:extLst>
            </p:cNvPr>
            <p:cNvSpPr/>
            <p:nvPr/>
          </p:nvSpPr>
          <p:spPr>
            <a:xfrm>
              <a:off x="742950" y="8820150"/>
              <a:ext cx="209550" cy="38100"/>
            </a:xfrm>
            <a:custGeom>
              <a:avLst/>
              <a:gdLst>
                <a:gd name="csX0" fmla="*/ 200025 w 209550"/>
                <a:gd name="csY0" fmla="*/ 0 h 38100"/>
                <a:gd name="csX1" fmla="*/ 209550 w 209550"/>
                <a:gd name="csY1" fmla="*/ 0 h 38100"/>
                <a:gd name="csX2" fmla="*/ 209550 w 209550"/>
                <a:gd name="csY2" fmla="*/ 38100 h 38100"/>
                <a:gd name="csX3" fmla="*/ 200025 w 209550"/>
                <a:gd name="csY3" fmla="*/ 38100 h 38100"/>
                <a:gd name="csX4" fmla="*/ 9525 w 209550"/>
                <a:gd name="csY4" fmla="*/ 38100 h 38100"/>
                <a:gd name="csX5" fmla="*/ 0 w 209550"/>
                <a:gd name="csY5" fmla="*/ 38100 h 38100"/>
                <a:gd name="csX6" fmla="*/ 0 w 209550"/>
                <a:gd name="csY6" fmla="*/ 0 h 38100"/>
                <a:gd name="csX7" fmla="*/ 9525 w 209550"/>
                <a:gd name="csY7" fmla="*/ 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9550" h="38100">
                  <a:moveTo>
                    <a:pt x="200025" y="0"/>
                  </a:moveTo>
                  <a:cubicBezTo>
                    <a:pt x="205286" y="0"/>
                    <a:pt x="209550" y="0"/>
                    <a:pt x="209550" y="0"/>
                  </a:cubicBezTo>
                  <a:lnTo>
                    <a:pt x="209550" y="38100"/>
                  </a:lnTo>
                  <a:cubicBezTo>
                    <a:pt x="209550" y="38100"/>
                    <a:pt x="205286" y="38100"/>
                    <a:pt x="200025" y="38100"/>
                  </a:cubicBezTo>
                  <a:lnTo>
                    <a:pt x="9525" y="38100"/>
                  </a:lnTo>
                  <a:cubicBezTo>
                    <a:pt x="4264" y="38100"/>
                    <a:pt x="0" y="38100"/>
                    <a:pt x="0" y="38100"/>
                  </a:cubicBezTo>
                  <a:lnTo>
                    <a:pt x="0" y="0"/>
                  </a:lnTo>
                  <a:cubicBezTo>
                    <a:pt x="0" y="0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1EFE8"/>
            </a:solidFill>
            <a:ln w="9525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50DD5512-D82A-385B-43C3-D0533878BFFE}"/>
                </a:ext>
              </a:extLst>
            </p:cNvPr>
            <p:cNvSpPr/>
            <p:nvPr/>
          </p:nvSpPr>
          <p:spPr>
            <a:xfrm>
              <a:off x="742950" y="8877300"/>
              <a:ext cx="209550" cy="38100"/>
            </a:xfrm>
            <a:custGeom>
              <a:avLst/>
              <a:gdLst>
                <a:gd name="csX0" fmla="*/ 200025 w 209550"/>
                <a:gd name="csY0" fmla="*/ 0 h 38100"/>
                <a:gd name="csX1" fmla="*/ 209550 w 209550"/>
                <a:gd name="csY1" fmla="*/ 0 h 38100"/>
                <a:gd name="csX2" fmla="*/ 209550 w 209550"/>
                <a:gd name="csY2" fmla="*/ 38100 h 38100"/>
                <a:gd name="csX3" fmla="*/ 200025 w 209550"/>
                <a:gd name="csY3" fmla="*/ 38100 h 38100"/>
                <a:gd name="csX4" fmla="*/ 9525 w 209550"/>
                <a:gd name="csY4" fmla="*/ 38100 h 38100"/>
                <a:gd name="csX5" fmla="*/ 0 w 209550"/>
                <a:gd name="csY5" fmla="*/ 38100 h 38100"/>
                <a:gd name="csX6" fmla="*/ 0 w 209550"/>
                <a:gd name="csY6" fmla="*/ 0 h 38100"/>
                <a:gd name="csX7" fmla="*/ 9525 w 209550"/>
                <a:gd name="csY7" fmla="*/ 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9550" h="38100">
                  <a:moveTo>
                    <a:pt x="200025" y="0"/>
                  </a:moveTo>
                  <a:cubicBezTo>
                    <a:pt x="205286" y="0"/>
                    <a:pt x="209550" y="0"/>
                    <a:pt x="209550" y="0"/>
                  </a:cubicBezTo>
                  <a:lnTo>
                    <a:pt x="209550" y="38100"/>
                  </a:lnTo>
                  <a:cubicBezTo>
                    <a:pt x="209550" y="38100"/>
                    <a:pt x="205286" y="38100"/>
                    <a:pt x="200025" y="38100"/>
                  </a:cubicBezTo>
                  <a:lnTo>
                    <a:pt x="9525" y="38100"/>
                  </a:lnTo>
                  <a:cubicBezTo>
                    <a:pt x="4264" y="38100"/>
                    <a:pt x="0" y="38100"/>
                    <a:pt x="0" y="38100"/>
                  </a:cubicBezTo>
                  <a:lnTo>
                    <a:pt x="0" y="0"/>
                  </a:lnTo>
                  <a:cubicBezTo>
                    <a:pt x="0" y="0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1EFE8">
                <a:alpha val="60000"/>
              </a:srgbClr>
            </a:solidFill>
            <a:ln w="9525" cap="flat">
              <a:solidFill>
                <a:srgbClr val="5F5E5A">
                  <a:alpha val="6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DCB7965C-C40B-83B0-FD7C-FA005420D09D}"/>
                </a:ext>
              </a:extLst>
            </p:cNvPr>
            <p:cNvSpPr/>
            <p:nvPr/>
          </p:nvSpPr>
          <p:spPr>
            <a:xfrm>
              <a:off x="742950" y="8934450"/>
              <a:ext cx="209550" cy="38100"/>
            </a:xfrm>
            <a:custGeom>
              <a:avLst/>
              <a:gdLst>
                <a:gd name="csX0" fmla="*/ 200025 w 209550"/>
                <a:gd name="csY0" fmla="*/ 0 h 38100"/>
                <a:gd name="csX1" fmla="*/ 209550 w 209550"/>
                <a:gd name="csY1" fmla="*/ 0 h 38100"/>
                <a:gd name="csX2" fmla="*/ 209550 w 209550"/>
                <a:gd name="csY2" fmla="*/ 38100 h 38100"/>
                <a:gd name="csX3" fmla="*/ 200025 w 209550"/>
                <a:gd name="csY3" fmla="*/ 38100 h 38100"/>
                <a:gd name="csX4" fmla="*/ 9525 w 209550"/>
                <a:gd name="csY4" fmla="*/ 38100 h 38100"/>
                <a:gd name="csX5" fmla="*/ 0 w 209550"/>
                <a:gd name="csY5" fmla="*/ 38100 h 38100"/>
                <a:gd name="csX6" fmla="*/ 0 w 209550"/>
                <a:gd name="csY6" fmla="*/ 0 h 38100"/>
                <a:gd name="csX7" fmla="*/ 9525 w 209550"/>
                <a:gd name="csY7" fmla="*/ 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9550" h="38100">
                  <a:moveTo>
                    <a:pt x="200025" y="0"/>
                  </a:moveTo>
                  <a:cubicBezTo>
                    <a:pt x="205286" y="0"/>
                    <a:pt x="209550" y="0"/>
                    <a:pt x="209550" y="0"/>
                  </a:cubicBezTo>
                  <a:lnTo>
                    <a:pt x="209550" y="38100"/>
                  </a:lnTo>
                  <a:cubicBezTo>
                    <a:pt x="209550" y="38100"/>
                    <a:pt x="205286" y="38100"/>
                    <a:pt x="200025" y="38100"/>
                  </a:cubicBezTo>
                  <a:lnTo>
                    <a:pt x="9525" y="38100"/>
                  </a:lnTo>
                  <a:cubicBezTo>
                    <a:pt x="4264" y="38100"/>
                    <a:pt x="0" y="38100"/>
                    <a:pt x="0" y="38100"/>
                  </a:cubicBezTo>
                  <a:lnTo>
                    <a:pt x="0" y="0"/>
                  </a:lnTo>
                  <a:cubicBezTo>
                    <a:pt x="0" y="0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F1EFE8">
                <a:alpha val="30000"/>
              </a:srgbClr>
            </a:solidFill>
            <a:ln w="9525" cap="flat">
              <a:solidFill>
                <a:srgbClr val="5F5E5A">
                  <a:alpha val="3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2D67ED-7BEE-2768-89F5-4587529B7D51}"/>
                </a:ext>
              </a:extLst>
            </p:cNvPr>
            <p:cNvSpPr txBox="1"/>
            <p:nvPr/>
          </p:nvSpPr>
          <p:spPr>
            <a:xfrm>
              <a:off x="959745" y="8697206"/>
              <a:ext cx="14029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444441"/>
                  </a:solidFill>
                  <a:latin typeface="Segoe UI"/>
                  <a:cs typeface="Segoe UI"/>
                  <a:sym typeface="Segoe UI"/>
                  <a:rtl val="0"/>
                </a:rPr>
                <a:t>Conversation history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0EEBC9E-91A2-E17E-A538-279414048C72}"/>
                </a:ext>
              </a:extLst>
            </p:cNvPr>
            <p:cNvSpPr txBox="1"/>
            <p:nvPr/>
          </p:nvSpPr>
          <p:spPr>
            <a:xfrm>
              <a:off x="991649" y="8860638"/>
              <a:ext cx="13099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dirty="0">
                  <a:ln/>
                  <a:solidFill>
                    <a:srgbClr val="5F5E5A"/>
                  </a:solidFill>
                  <a:latin typeface="Segoe UI"/>
                  <a:cs typeface="Segoe UI"/>
                  <a:sym typeface="Segoe UI"/>
                  <a:rtl val="0"/>
                </a:rPr>
                <a:t>Messages · tool traces</a:t>
              </a:r>
            </a:p>
          </p:txBody>
        </p:sp>
      </p:grpSp>
      <p:grpSp>
        <p:nvGrpSpPr>
          <p:cNvPr id="110" name="Graphic 4">
            <a:extLst>
              <a:ext uri="{FF2B5EF4-FFF2-40B4-BE49-F238E27FC236}">
                <a16:creationId xmlns:a16="http://schemas.microsoft.com/office/drawing/2014/main" id="{66706233-8BB4-E38A-EF41-68AA6A690106}"/>
              </a:ext>
            </a:extLst>
          </p:cNvPr>
          <p:cNvGrpSpPr/>
          <p:nvPr/>
        </p:nvGrpSpPr>
        <p:grpSpPr>
          <a:xfrm>
            <a:off x="2476500" y="6716006"/>
            <a:ext cx="1947192" cy="408694"/>
            <a:chOff x="2476500" y="8697206"/>
            <a:chExt cx="1947192" cy="408694"/>
          </a:xfrm>
        </p:grpSpPr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429E4E2-13B7-A62C-4468-E6D628A5D13D}"/>
                </a:ext>
              </a:extLst>
            </p:cNvPr>
            <p:cNvSpPr/>
            <p:nvPr/>
          </p:nvSpPr>
          <p:spPr>
            <a:xfrm>
              <a:off x="2476500" y="8743950"/>
              <a:ext cx="1905000" cy="361950"/>
            </a:xfrm>
            <a:custGeom>
              <a:avLst/>
              <a:gdLst>
                <a:gd name="csX0" fmla="*/ 1838325 w 1905000"/>
                <a:gd name="csY0" fmla="*/ 0 h 361950"/>
                <a:gd name="csX1" fmla="*/ 1905000 w 1905000"/>
                <a:gd name="csY1" fmla="*/ 0 h 361950"/>
                <a:gd name="csX2" fmla="*/ 1905000 w 1905000"/>
                <a:gd name="csY2" fmla="*/ 361950 h 361950"/>
                <a:gd name="csX3" fmla="*/ 1838325 w 1905000"/>
                <a:gd name="csY3" fmla="*/ 361950 h 361950"/>
                <a:gd name="csX4" fmla="*/ 66675 w 1905000"/>
                <a:gd name="csY4" fmla="*/ 361950 h 361950"/>
                <a:gd name="csX5" fmla="*/ 0 w 1905000"/>
                <a:gd name="csY5" fmla="*/ 361950 h 361950"/>
                <a:gd name="csX6" fmla="*/ 0 w 1905000"/>
                <a:gd name="csY6" fmla="*/ 0 h 361950"/>
                <a:gd name="csX7" fmla="*/ 66675 w 1905000"/>
                <a:gd name="csY7" fmla="*/ 0 h 361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05000" h="361950">
                  <a:moveTo>
                    <a:pt x="1838325" y="0"/>
                  </a:moveTo>
                  <a:cubicBezTo>
                    <a:pt x="1875149" y="0"/>
                    <a:pt x="1905000" y="0"/>
                    <a:pt x="1905000" y="0"/>
                  </a:cubicBezTo>
                  <a:lnTo>
                    <a:pt x="1905000" y="361950"/>
                  </a:lnTo>
                  <a:cubicBezTo>
                    <a:pt x="1905000" y="361950"/>
                    <a:pt x="1875149" y="361950"/>
                    <a:pt x="1838325" y="361950"/>
                  </a:cubicBezTo>
                  <a:lnTo>
                    <a:pt x="66675" y="361950"/>
                  </a:lnTo>
                  <a:cubicBezTo>
                    <a:pt x="29851" y="361950"/>
                    <a:pt x="0" y="361950"/>
                    <a:pt x="0" y="361950"/>
                  </a:cubicBezTo>
                  <a:lnTo>
                    <a:pt x="0" y="0"/>
                  </a:lnTo>
                  <a:cubicBezTo>
                    <a:pt x="0" y="0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F1EFE8"/>
            </a:solidFill>
            <a:ln w="4763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71972E7-A80A-54B9-63B6-2A6FD51CCE87}"/>
                </a:ext>
              </a:extLst>
            </p:cNvPr>
            <p:cNvSpPr/>
            <p:nvPr/>
          </p:nvSpPr>
          <p:spPr>
            <a:xfrm>
              <a:off x="2533650" y="8820150"/>
              <a:ext cx="228600" cy="76200"/>
            </a:xfrm>
            <a:custGeom>
              <a:avLst/>
              <a:gdLst>
                <a:gd name="csX0" fmla="*/ 228600 w 228600"/>
                <a:gd name="csY0" fmla="*/ 38100 h 76200"/>
                <a:gd name="csX1" fmla="*/ 114300 w 228600"/>
                <a:gd name="csY1" fmla="*/ 76200 h 76200"/>
                <a:gd name="csX2" fmla="*/ 0 w 228600"/>
                <a:gd name="csY2" fmla="*/ 38100 h 76200"/>
                <a:gd name="csX3" fmla="*/ 114300 w 228600"/>
                <a:gd name="csY3" fmla="*/ 0 h 76200"/>
                <a:gd name="csX4" fmla="*/ 228600 w 228600"/>
                <a:gd name="csY4" fmla="*/ 381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8600" h="76200">
                  <a:moveTo>
                    <a:pt x="228600" y="38100"/>
                  </a:moveTo>
                  <a:cubicBezTo>
                    <a:pt x="228600" y="59142"/>
                    <a:pt x="177426" y="76200"/>
                    <a:pt x="114300" y="76200"/>
                  </a:cubicBezTo>
                  <a:cubicBezTo>
                    <a:pt x="51174" y="76200"/>
                    <a:pt x="0" y="59142"/>
                    <a:pt x="0" y="38100"/>
                  </a:cubicBezTo>
                  <a:cubicBezTo>
                    <a:pt x="0" y="17058"/>
                    <a:pt x="51174" y="0"/>
                    <a:pt x="114300" y="0"/>
                  </a:cubicBezTo>
                  <a:cubicBezTo>
                    <a:pt x="177426" y="0"/>
                    <a:pt x="228600" y="17058"/>
                    <a:pt x="228600" y="38100"/>
                  </a:cubicBezTo>
                  <a:close/>
                </a:path>
              </a:pathLst>
            </a:custGeom>
            <a:solidFill>
              <a:srgbClr val="F1EFE8"/>
            </a:solidFill>
            <a:ln w="11430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28F97DD-FB0F-6462-6B29-685251C5C421}"/>
                </a:ext>
              </a:extLst>
            </p:cNvPr>
            <p:cNvSpPr/>
            <p:nvPr/>
          </p:nvSpPr>
          <p:spPr>
            <a:xfrm>
              <a:off x="2533650" y="8858250"/>
              <a:ext cx="228600" cy="133350"/>
            </a:xfrm>
            <a:custGeom>
              <a:avLst/>
              <a:gdLst>
                <a:gd name="csX0" fmla="*/ 0 w 228600"/>
                <a:gd name="csY0" fmla="*/ 0 h 133350"/>
                <a:gd name="csX1" fmla="*/ 228600 w 228600"/>
                <a:gd name="csY1" fmla="*/ 0 h 133350"/>
                <a:gd name="csX2" fmla="*/ 228600 w 228600"/>
                <a:gd name="csY2" fmla="*/ 133350 h 133350"/>
                <a:gd name="csX3" fmla="*/ 0 w 228600"/>
                <a:gd name="csY3" fmla="*/ 133350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8600" h="133350">
                  <a:moveTo>
                    <a:pt x="0" y="0"/>
                  </a:moveTo>
                  <a:lnTo>
                    <a:pt x="228600" y="0"/>
                  </a:lnTo>
                  <a:lnTo>
                    <a:pt x="2286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1EFE8"/>
            </a:solidFill>
            <a:ln w="11430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584CD959-C81E-580E-FD13-ACC2901831D3}"/>
                </a:ext>
              </a:extLst>
            </p:cNvPr>
            <p:cNvSpPr/>
            <p:nvPr/>
          </p:nvSpPr>
          <p:spPr>
            <a:xfrm>
              <a:off x="2533650" y="8953500"/>
              <a:ext cx="228600" cy="76200"/>
            </a:xfrm>
            <a:custGeom>
              <a:avLst/>
              <a:gdLst>
                <a:gd name="csX0" fmla="*/ 228600 w 228600"/>
                <a:gd name="csY0" fmla="*/ 38100 h 76200"/>
                <a:gd name="csX1" fmla="*/ 114300 w 228600"/>
                <a:gd name="csY1" fmla="*/ 76200 h 76200"/>
                <a:gd name="csX2" fmla="*/ 0 w 228600"/>
                <a:gd name="csY2" fmla="*/ 38100 h 76200"/>
                <a:gd name="csX3" fmla="*/ 114300 w 228600"/>
                <a:gd name="csY3" fmla="*/ 0 h 76200"/>
                <a:gd name="csX4" fmla="*/ 228600 w 228600"/>
                <a:gd name="csY4" fmla="*/ 38100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8600" h="76200">
                  <a:moveTo>
                    <a:pt x="228600" y="38100"/>
                  </a:moveTo>
                  <a:cubicBezTo>
                    <a:pt x="228600" y="59142"/>
                    <a:pt x="177426" y="76200"/>
                    <a:pt x="114300" y="76200"/>
                  </a:cubicBezTo>
                  <a:cubicBezTo>
                    <a:pt x="51174" y="76200"/>
                    <a:pt x="0" y="59142"/>
                    <a:pt x="0" y="38100"/>
                  </a:cubicBezTo>
                  <a:cubicBezTo>
                    <a:pt x="0" y="17058"/>
                    <a:pt x="51174" y="0"/>
                    <a:pt x="114300" y="0"/>
                  </a:cubicBezTo>
                  <a:cubicBezTo>
                    <a:pt x="177426" y="0"/>
                    <a:pt x="228600" y="17058"/>
                    <a:pt x="228600" y="38100"/>
                  </a:cubicBezTo>
                  <a:close/>
                </a:path>
              </a:pathLst>
            </a:custGeom>
            <a:solidFill>
              <a:srgbClr val="F1EFE8"/>
            </a:solidFill>
            <a:ln w="11430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30CA0B5-4413-8DAE-44D9-C1ADDFE36A52}"/>
                </a:ext>
              </a:extLst>
            </p:cNvPr>
            <p:cNvSpPr txBox="1"/>
            <p:nvPr/>
          </p:nvSpPr>
          <p:spPr>
            <a:xfrm>
              <a:off x="2813069" y="8697206"/>
              <a:ext cx="149432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444441"/>
                  </a:solidFill>
                  <a:latin typeface="Segoe UI"/>
                  <a:cs typeface="Segoe UI"/>
                  <a:sym typeface="Segoe UI"/>
                  <a:rtl val="0"/>
                </a:rPr>
                <a:t>Knowledge base store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DBF2C14-D0C1-651D-21BA-E83F6549B363}"/>
                </a:ext>
              </a:extLst>
            </p:cNvPr>
            <p:cNvSpPr txBox="1"/>
            <p:nvPr/>
          </p:nvSpPr>
          <p:spPr>
            <a:xfrm>
              <a:off x="2780293" y="8860638"/>
              <a:ext cx="16433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dirty="0">
                  <a:ln/>
                  <a:solidFill>
                    <a:srgbClr val="5F5E5A"/>
                  </a:solidFill>
                  <a:latin typeface="Segoe UI"/>
                  <a:cs typeface="Segoe UI"/>
                  <a:sym typeface="Segoe UI"/>
                  <a:rtl val="0"/>
                </a:rPr>
                <a:t>Vector embeddings · catalog</a:t>
              </a:r>
            </a:p>
          </p:txBody>
        </p:sp>
      </p:grpSp>
      <p:grpSp>
        <p:nvGrpSpPr>
          <p:cNvPr id="117" name="Graphic 4">
            <a:extLst>
              <a:ext uri="{FF2B5EF4-FFF2-40B4-BE49-F238E27FC236}">
                <a16:creationId xmlns:a16="http://schemas.microsoft.com/office/drawing/2014/main" id="{8E2CB3DB-EE35-2D85-1641-C77B280C3BF5}"/>
              </a:ext>
            </a:extLst>
          </p:cNvPr>
          <p:cNvGrpSpPr/>
          <p:nvPr/>
        </p:nvGrpSpPr>
        <p:grpSpPr>
          <a:xfrm>
            <a:off x="4533900" y="6716006"/>
            <a:ext cx="1695450" cy="408694"/>
            <a:chOff x="4533900" y="8697206"/>
            <a:chExt cx="1695450" cy="408694"/>
          </a:xfrm>
        </p:grpSpPr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AE0F520D-CF7F-83AA-8EE8-F23CB2FE1E2F}"/>
                </a:ext>
              </a:extLst>
            </p:cNvPr>
            <p:cNvSpPr/>
            <p:nvPr/>
          </p:nvSpPr>
          <p:spPr>
            <a:xfrm>
              <a:off x="4533900" y="8743950"/>
              <a:ext cx="1695450" cy="361950"/>
            </a:xfrm>
            <a:custGeom>
              <a:avLst/>
              <a:gdLst>
                <a:gd name="csX0" fmla="*/ 1628775 w 1695450"/>
                <a:gd name="csY0" fmla="*/ 0 h 361950"/>
                <a:gd name="csX1" fmla="*/ 1695450 w 1695450"/>
                <a:gd name="csY1" fmla="*/ 0 h 361950"/>
                <a:gd name="csX2" fmla="*/ 1695450 w 1695450"/>
                <a:gd name="csY2" fmla="*/ 361950 h 361950"/>
                <a:gd name="csX3" fmla="*/ 1628775 w 1695450"/>
                <a:gd name="csY3" fmla="*/ 361950 h 361950"/>
                <a:gd name="csX4" fmla="*/ 66675 w 1695450"/>
                <a:gd name="csY4" fmla="*/ 361950 h 361950"/>
                <a:gd name="csX5" fmla="*/ 0 w 1695450"/>
                <a:gd name="csY5" fmla="*/ 361950 h 361950"/>
                <a:gd name="csX6" fmla="*/ 0 w 1695450"/>
                <a:gd name="csY6" fmla="*/ 0 h 361950"/>
                <a:gd name="csX7" fmla="*/ 66675 w 1695450"/>
                <a:gd name="csY7" fmla="*/ 0 h 361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5450" h="361950">
                  <a:moveTo>
                    <a:pt x="1628775" y="0"/>
                  </a:moveTo>
                  <a:cubicBezTo>
                    <a:pt x="1665598" y="0"/>
                    <a:pt x="1695450" y="0"/>
                    <a:pt x="1695450" y="0"/>
                  </a:cubicBezTo>
                  <a:lnTo>
                    <a:pt x="1695450" y="361950"/>
                  </a:lnTo>
                  <a:cubicBezTo>
                    <a:pt x="1695450" y="361950"/>
                    <a:pt x="1665598" y="361950"/>
                    <a:pt x="1628775" y="361950"/>
                  </a:cubicBezTo>
                  <a:lnTo>
                    <a:pt x="66675" y="361950"/>
                  </a:lnTo>
                  <a:cubicBezTo>
                    <a:pt x="29851" y="361950"/>
                    <a:pt x="0" y="361950"/>
                    <a:pt x="0" y="361950"/>
                  </a:cubicBezTo>
                  <a:lnTo>
                    <a:pt x="0" y="0"/>
                  </a:lnTo>
                  <a:cubicBezTo>
                    <a:pt x="0" y="0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F1EFE8"/>
            </a:solidFill>
            <a:ln w="4763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97C34B6-8066-8F6D-AB59-3D62533BCB0E}"/>
                </a:ext>
              </a:extLst>
            </p:cNvPr>
            <p:cNvSpPr/>
            <p:nvPr/>
          </p:nvSpPr>
          <p:spPr>
            <a:xfrm>
              <a:off x="4648200" y="8801100"/>
              <a:ext cx="152400" cy="190500"/>
            </a:xfrm>
            <a:custGeom>
              <a:avLst/>
              <a:gdLst>
                <a:gd name="csX0" fmla="*/ 133350 w 152400"/>
                <a:gd name="csY0" fmla="*/ 0 h 190500"/>
                <a:gd name="csX1" fmla="*/ 152400 w 152400"/>
                <a:gd name="csY1" fmla="*/ 0 h 190500"/>
                <a:gd name="csX2" fmla="*/ 152400 w 152400"/>
                <a:gd name="csY2" fmla="*/ 190500 h 190500"/>
                <a:gd name="csX3" fmla="*/ 133350 w 152400"/>
                <a:gd name="csY3" fmla="*/ 190500 h 190500"/>
                <a:gd name="csX4" fmla="*/ 19050 w 152400"/>
                <a:gd name="csY4" fmla="*/ 190500 h 190500"/>
                <a:gd name="csX5" fmla="*/ 0 w 152400"/>
                <a:gd name="csY5" fmla="*/ 190500 h 190500"/>
                <a:gd name="csX6" fmla="*/ 0 w 152400"/>
                <a:gd name="csY6" fmla="*/ 0 h 190500"/>
                <a:gd name="csX7" fmla="*/ 19050 w 152400"/>
                <a:gd name="csY7" fmla="*/ 0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2400" h="190500">
                  <a:moveTo>
                    <a:pt x="133350" y="0"/>
                  </a:moveTo>
                  <a:cubicBezTo>
                    <a:pt x="143871" y="0"/>
                    <a:pt x="152400" y="0"/>
                    <a:pt x="152400" y="0"/>
                  </a:cubicBezTo>
                  <a:lnTo>
                    <a:pt x="152400" y="190500"/>
                  </a:lnTo>
                  <a:cubicBezTo>
                    <a:pt x="152400" y="190500"/>
                    <a:pt x="143871" y="190500"/>
                    <a:pt x="133350" y="190500"/>
                  </a:cubicBezTo>
                  <a:lnTo>
                    <a:pt x="19050" y="190500"/>
                  </a:lnTo>
                  <a:cubicBezTo>
                    <a:pt x="8529" y="190500"/>
                    <a:pt x="0" y="190500"/>
                    <a:pt x="0" y="190500"/>
                  </a:cubicBezTo>
                  <a:lnTo>
                    <a:pt x="0" y="0"/>
                  </a:lnTo>
                  <a:cubicBezTo>
                    <a:pt x="0" y="0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1EFE8"/>
            </a:solidFill>
            <a:ln w="11430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F5C2C651-FEA8-171B-3031-931713A15DE2}"/>
                </a:ext>
              </a:extLst>
            </p:cNvPr>
            <p:cNvSpPr/>
            <p:nvPr/>
          </p:nvSpPr>
          <p:spPr>
            <a:xfrm>
              <a:off x="4724400" y="8801100"/>
              <a:ext cx="76200" cy="66675"/>
            </a:xfrm>
            <a:custGeom>
              <a:avLst/>
              <a:gdLst>
                <a:gd name="csX0" fmla="*/ 0 w 76200"/>
                <a:gd name="csY0" fmla="*/ 0 h 66675"/>
                <a:gd name="csX1" fmla="*/ 0 w 76200"/>
                <a:gd name="csY1" fmla="*/ 66675 h 66675"/>
                <a:gd name="csX2" fmla="*/ 76200 w 76200"/>
                <a:gd name="csY2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6200" h="66675">
                  <a:moveTo>
                    <a:pt x="0" y="0"/>
                  </a:moveTo>
                  <a:lnTo>
                    <a:pt x="0" y="66675"/>
                  </a:lnTo>
                  <a:lnTo>
                    <a:pt x="76200" y="66675"/>
                  </a:lnTo>
                </a:path>
              </a:pathLst>
            </a:custGeom>
            <a:noFill/>
            <a:ln w="9525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C24BE73-5E2B-9C50-2A8E-93CB8176CF0C}"/>
                </a:ext>
              </a:extLst>
            </p:cNvPr>
            <p:cNvSpPr txBox="1"/>
            <p:nvPr/>
          </p:nvSpPr>
          <p:spPr>
            <a:xfrm>
              <a:off x="4996533" y="8697206"/>
              <a:ext cx="94769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444441"/>
                  </a:solidFill>
                  <a:latin typeface="Segoe UI"/>
                  <a:cs typeface="Segoe UI"/>
                  <a:sym typeface="Segoe UI"/>
                  <a:rtl val="0"/>
                </a:rPr>
                <a:t>Artifact store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1142CB-6F45-3FE3-A8A2-51A0D0C983C1}"/>
                </a:ext>
              </a:extLst>
            </p:cNvPr>
            <p:cNvSpPr txBox="1"/>
            <p:nvPr/>
          </p:nvSpPr>
          <p:spPr>
            <a:xfrm>
              <a:off x="4825075" y="8860638"/>
              <a:ext cx="13548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dirty="0">
                  <a:ln/>
                  <a:solidFill>
                    <a:srgbClr val="5F5E5A"/>
                  </a:solidFill>
                  <a:latin typeface="Segoe UI"/>
                  <a:cs typeface="Segoe UI"/>
                  <a:sym typeface="Segoe UI"/>
                  <a:rtl val="0"/>
                </a:rPr>
                <a:t>exports · plots · reports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79B90DFE-594B-8F9A-5652-26551263BAFC}"/>
              </a:ext>
            </a:extLst>
          </p:cNvPr>
          <p:cNvSpPr txBox="1"/>
          <p:nvPr/>
        </p:nvSpPr>
        <p:spPr>
          <a:xfrm>
            <a:off x="546735" y="6334987"/>
            <a:ext cx="5741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KB sync</a:t>
            </a:r>
          </a:p>
        </p:txBody>
      </p:sp>
      <p:sp>
        <p:nvSpPr>
          <p:cNvPr id="126" name="Freeform 125">
            <a:extLst>
              <a:ext uri="{FF2B5EF4-FFF2-40B4-BE49-F238E27FC236}">
                <a16:creationId xmlns:a16="http://schemas.microsoft.com/office/drawing/2014/main" id="{1C28EE3A-B262-A3D1-9CD3-B0F99E1A8ADE}"/>
              </a:ext>
            </a:extLst>
          </p:cNvPr>
          <p:cNvSpPr/>
          <p:nvPr/>
        </p:nvSpPr>
        <p:spPr>
          <a:xfrm>
            <a:off x="3429003" y="7200900"/>
            <a:ext cx="9525" cy="247650"/>
          </a:xfrm>
          <a:custGeom>
            <a:avLst/>
            <a:gdLst>
              <a:gd name="csX0" fmla="*/ 0 w 9525"/>
              <a:gd name="csY0" fmla="*/ 0 h 247650"/>
              <a:gd name="csX1" fmla="*/ 0 w 9525"/>
              <a:gd name="csY1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Freeform 126">
            <a:extLst>
              <a:ext uri="{FF2B5EF4-FFF2-40B4-BE49-F238E27FC236}">
                <a16:creationId xmlns:a16="http://schemas.microsoft.com/office/drawing/2014/main" id="{F0663B77-71A4-A2FD-B10F-E1314CB8D517}"/>
              </a:ext>
            </a:extLst>
          </p:cNvPr>
          <p:cNvSpPr/>
          <p:nvPr/>
        </p:nvSpPr>
        <p:spPr>
          <a:xfrm>
            <a:off x="3200403" y="7200900"/>
            <a:ext cx="9525" cy="247650"/>
          </a:xfrm>
          <a:custGeom>
            <a:avLst/>
            <a:gdLst>
              <a:gd name="csX0" fmla="*/ 0 w 9525"/>
              <a:gd name="csY0" fmla="*/ 247650 h 247650"/>
              <a:gd name="csX1" fmla="*/ 0 w 9525"/>
              <a:gd name="csY1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ln w="11430" cap="flat">
            <a:solidFill>
              <a:srgbClr val="888780"/>
            </a:solidFill>
            <a:prstDash val="solid"/>
            <a:miter/>
            <a:headEnd type="arrow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28" name="Graphic 4">
            <a:extLst>
              <a:ext uri="{FF2B5EF4-FFF2-40B4-BE49-F238E27FC236}">
                <a16:creationId xmlns:a16="http://schemas.microsoft.com/office/drawing/2014/main" id="{7D09C511-0728-8609-2970-8F98C29F3E24}"/>
              </a:ext>
            </a:extLst>
          </p:cNvPr>
          <p:cNvGrpSpPr/>
          <p:nvPr/>
        </p:nvGrpSpPr>
        <p:grpSpPr>
          <a:xfrm>
            <a:off x="476250" y="7427024"/>
            <a:ext cx="5905500" cy="403789"/>
            <a:chOff x="476250" y="9408221"/>
            <a:chExt cx="5905500" cy="403789"/>
          </a:xfrm>
        </p:grpSpPr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2D929E38-2D37-E48A-6483-82CC9F41E9F3}"/>
                </a:ext>
              </a:extLst>
            </p:cNvPr>
            <p:cNvSpPr/>
            <p:nvPr/>
          </p:nvSpPr>
          <p:spPr>
            <a:xfrm>
              <a:off x="476250" y="9429750"/>
              <a:ext cx="5905500" cy="342900"/>
            </a:xfrm>
            <a:custGeom>
              <a:avLst/>
              <a:gdLst>
                <a:gd name="csX0" fmla="*/ 5810250 w 5905500"/>
                <a:gd name="csY0" fmla="*/ 0 h 342900"/>
                <a:gd name="csX1" fmla="*/ 5905500 w 5905500"/>
                <a:gd name="csY1" fmla="*/ 0 h 342900"/>
                <a:gd name="csX2" fmla="*/ 5905500 w 5905500"/>
                <a:gd name="csY2" fmla="*/ 342900 h 342900"/>
                <a:gd name="csX3" fmla="*/ 5810250 w 5905500"/>
                <a:gd name="csY3" fmla="*/ 342900 h 342900"/>
                <a:gd name="csX4" fmla="*/ 95250 w 5905500"/>
                <a:gd name="csY4" fmla="*/ 342900 h 342900"/>
                <a:gd name="csX5" fmla="*/ 0 w 5905500"/>
                <a:gd name="csY5" fmla="*/ 342900 h 342900"/>
                <a:gd name="csX6" fmla="*/ 0 w 5905500"/>
                <a:gd name="csY6" fmla="*/ 0 h 342900"/>
                <a:gd name="csX7" fmla="*/ 95250 w 5905500"/>
                <a:gd name="csY7" fmla="*/ 0 h 342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905500" h="342900">
                  <a:moveTo>
                    <a:pt x="5810250" y="0"/>
                  </a:moveTo>
                  <a:cubicBezTo>
                    <a:pt x="5862855" y="0"/>
                    <a:pt x="5905500" y="0"/>
                    <a:pt x="5905500" y="0"/>
                  </a:cubicBezTo>
                  <a:lnTo>
                    <a:pt x="5905500" y="342900"/>
                  </a:lnTo>
                  <a:cubicBezTo>
                    <a:pt x="5905500" y="342900"/>
                    <a:pt x="5862855" y="342900"/>
                    <a:pt x="5810250" y="342900"/>
                  </a:cubicBezTo>
                  <a:lnTo>
                    <a:pt x="95250" y="342900"/>
                  </a:lnTo>
                  <a:cubicBezTo>
                    <a:pt x="42645" y="342900"/>
                    <a:pt x="0" y="342900"/>
                    <a:pt x="0" y="342900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AECE7"/>
            </a:solidFill>
            <a:ln w="4763" cap="flat">
              <a:solidFill>
                <a:srgbClr val="993C1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FB12E24-8029-5968-F7D4-5BD26ABCD62E}"/>
                </a:ext>
              </a:extLst>
            </p:cNvPr>
            <p:cNvSpPr/>
            <p:nvPr/>
          </p:nvSpPr>
          <p:spPr>
            <a:xfrm>
              <a:off x="647700" y="9505950"/>
              <a:ext cx="190500" cy="190500"/>
            </a:xfrm>
            <a:custGeom>
              <a:avLst/>
              <a:gdLst>
                <a:gd name="csX0" fmla="*/ 190500 w 190500"/>
                <a:gd name="csY0" fmla="*/ 95250 h 190500"/>
                <a:gd name="csX1" fmla="*/ 95250 w 190500"/>
                <a:gd name="csY1" fmla="*/ 190500 h 190500"/>
                <a:gd name="csX2" fmla="*/ 0 w 190500"/>
                <a:gd name="csY2" fmla="*/ 95250 h 190500"/>
                <a:gd name="csX3" fmla="*/ 95250 w 190500"/>
                <a:gd name="csY3" fmla="*/ 0 h 190500"/>
                <a:gd name="csX4" fmla="*/ 190500 w 190500"/>
                <a:gd name="csY4" fmla="*/ 95250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500" h="190500">
                  <a:moveTo>
                    <a:pt x="190500" y="95250"/>
                  </a:moveTo>
                  <a:cubicBezTo>
                    <a:pt x="190500" y="147855"/>
                    <a:pt x="147855" y="190500"/>
                    <a:pt x="95250" y="190500"/>
                  </a:cubicBezTo>
                  <a:cubicBezTo>
                    <a:pt x="42645" y="190500"/>
                    <a:pt x="0" y="147855"/>
                    <a:pt x="0" y="95250"/>
                  </a:cubicBezTo>
                  <a:cubicBezTo>
                    <a:pt x="0" y="42645"/>
                    <a:pt x="42645" y="0"/>
                    <a:pt x="95250" y="0"/>
                  </a:cubicBezTo>
                  <a:cubicBezTo>
                    <a:pt x="147855" y="0"/>
                    <a:pt x="190500" y="42645"/>
                    <a:pt x="190500" y="95250"/>
                  </a:cubicBezTo>
                  <a:close/>
                </a:path>
              </a:pathLst>
            </a:custGeom>
            <a:solidFill>
              <a:srgbClr val="FAECE7"/>
            </a:solidFill>
            <a:ln w="12383" cap="flat">
              <a:solidFill>
                <a:srgbClr val="993C1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290F795-3D6C-599D-CC67-6FDAFCF2D04C}"/>
                </a:ext>
              </a:extLst>
            </p:cNvPr>
            <p:cNvSpPr/>
            <p:nvPr/>
          </p:nvSpPr>
          <p:spPr>
            <a:xfrm>
              <a:off x="695325" y="9505950"/>
              <a:ext cx="95250" cy="190500"/>
            </a:xfrm>
            <a:custGeom>
              <a:avLst/>
              <a:gdLst>
                <a:gd name="csX0" fmla="*/ 95250 w 95250"/>
                <a:gd name="csY0" fmla="*/ 95250 h 190500"/>
                <a:gd name="csX1" fmla="*/ 47625 w 95250"/>
                <a:gd name="csY1" fmla="*/ 190500 h 190500"/>
                <a:gd name="csX2" fmla="*/ 0 w 95250"/>
                <a:gd name="csY2" fmla="*/ 95250 h 190500"/>
                <a:gd name="csX3" fmla="*/ 47625 w 95250"/>
                <a:gd name="csY3" fmla="*/ 0 h 190500"/>
                <a:gd name="csX4" fmla="*/ 95250 w 95250"/>
                <a:gd name="csY4" fmla="*/ 95250 h 190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250" h="190500">
                  <a:moveTo>
                    <a:pt x="95250" y="95250"/>
                  </a:moveTo>
                  <a:cubicBezTo>
                    <a:pt x="95250" y="147855"/>
                    <a:pt x="73928" y="190500"/>
                    <a:pt x="47625" y="190500"/>
                  </a:cubicBezTo>
                  <a:cubicBezTo>
                    <a:pt x="21322" y="190500"/>
                    <a:pt x="0" y="147855"/>
                    <a:pt x="0" y="95250"/>
                  </a:cubicBezTo>
                  <a:cubicBezTo>
                    <a:pt x="0" y="42645"/>
                    <a:pt x="21322" y="0"/>
                    <a:pt x="47625" y="0"/>
                  </a:cubicBezTo>
                  <a:cubicBezTo>
                    <a:pt x="73928" y="0"/>
                    <a:pt x="95250" y="42645"/>
                    <a:pt x="95250" y="95250"/>
                  </a:cubicBezTo>
                  <a:close/>
                </a:path>
              </a:pathLst>
            </a:custGeom>
            <a:solidFill>
              <a:srgbClr val="FAECE7"/>
            </a:solidFill>
            <a:ln w="9525" cap="flat">
              <a:solidFill>
                <a:srgbClr val="993C1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4EEF24A-165B-3263-9204-CC32DAF2445B}"/>
                </a:ext>
              </a:extLst>
            </p:cNvPr>
            <p:cNvSpPr/>
            <p:nvPr/>
          </p:nvSpPr>
          <p:spPr>
            <a:xfrm>
              <a:off x="638175" y="9601200"/>
              <a:ext cx="209550" cy="9525"/>
            </a:xfrm>
            <a:custGeom>
              <a:avLst/>
              <a:gdLst>
                <a:gd name="csX0" fmla="*/ 0 w 209550"/>
                <a:gd name="csY0" fmla="*/ 0 h 9525"/>
                <a:gd name="csX1" fmla="*/ 209550 w 20955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ln w="9525" cap="flat">
              <a:solidFill>
                <a:srgbClr val="993C1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0EA5350-0BF7-C2B7-C37E-9AB0730044E0}"/>
                </a:ext>
              </a:extLst>
            </p:cNvPr>
            <p:cNvSpPr txBox="1"/>
            <p:nvPr/>
          </p:nvSpPr>
          <p:spPr>
            <a:xfrm>
              <a:off x="2671912" y="9408221"/>
              <a:ext cx="186140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712B13"/>
                  </a:solidFill>
                  <a:latin typeface="Segoe UI"/>
                  <a:cs typeface="Segoe UI"/>
                  <a:sym typeface="Segoe UI"/>
                  <a:rtl val="0"/>
                </a:rPr>
                <a:t>Simons CMAP data platform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1BD303-A7DC-6700-8AA3-BA97412AAE67}"/>
                </a:ext>
              </a:extLst>
            </p:cNvPr>
            <p:cNvSpPr txBox="1"/>
            <p:nvPr/>
          </p:nvSpPr>
          <p:spPr>
            <a:xfrm>
              <a:off x="2575764" y="9581178"/>
              <a:ext cx="21114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>
                  <a:ln/>
                  <a:solidFill>
                    <a:srgbClr val="993C1D"/>
                  </a:solidFill>
                  <a:latin typeface="Segoe UI"/>
                  <a:cs typeface="Segoe UI"/>
                  <a:sym typeface="Segoe UI"/>
                  <a:rtl val="0"/>
                </a:rPr>
                <a:t>Catalog metadata · dataset access API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BD6974-0FF8-3BB0-6C62-574835C44852}"/>
              </a:ext>
            </a:extLst>
          </p:cNvPr>
          <p:cNvCxnSpPr>
            <a:cxnSpLocks/>
          </p:cNvCxnSpPr>
          <p:nvPr/>
        </p:nvCxnSpPr>
        <p:spPr>
          <a:xfrm flipV="1">
            <a:off x="2792506" y="6362420"/>
            <a:ext cx="0" cy="400333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878E887-D0AD-6BD6-743A-8832D5B26ADC}"/>
              </a:ext>
            </a:extLst>
          </p:cNvPr>
          <p:cNvCxnSpPr>
            <a:cxnSpLocks/>
          </p:cNvCxnSpPr>
          <p:nvPr/>
        </p:nvCxnSpPr>
        <p:spPr>
          <a:xfrm flipH="1">
            <a:off x="257178" y="6362417"/>
            <a:ext cx="2535331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68B2107-2499-D003-7938-69747F5BB560}"/>
              </a:ext>
            </a:extLst>
          </p:cNvPr>
          <p:cNvCxnSpPr>
            <a:cxnSpLocks/>
          </p:cNvCxnSpPr>
          <p:nvPr/>
        </p:nvCxnSpPr>
        <p:spPr>
          <a:xfrm flipV="1">
            <a:off x="257175" y="4043082"/>
            <a:ext cx="0" cy="232178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4ABC718-2F5A-CEF1-EA8B-17C54513A50F}"/>
              </a:ext>
            </a:extLst>
          </p:cNvPr>
          <p:cNvCxnSpPr>
            <a:cxnSpLocks/>
          </p:cNvCxnSpPr>
          <p:nvPr/>
        </p:nvCxnSpPr>
        <p:spPr>
          <a:xfrm flipH="1">
            <a:off x="244214" y="4049523"/>
            <a:ext cx="606938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Chat bubble outline">
            <a:extLst>
              <a:ext uri="{FF2B5EF4-FFF2-40B4-BE49-F238E27FC236}">
                <a16:creationId xmlns:a16="http://schemas.microsoft.com/office/drawing/2014/main" id="{AAE305A3-9BC7-F63F-BE09-9C433EDAD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7734" y="2480294"/>
            <a:ext cx="418519" cy="418519"/>
          </a:xfrm>
          <a:prstGeom prst="rect">
            <a:avLst/>
          </a:prstGeom>
        </p:spPr>
      </p:pic>
      <p:pic>
        <p:nvPicPr>
          <p:cNvPr id="15" name="Graphic 14" descr="User outline">
            <a:extLst>
              <a:ext uri="{FF2B5EF4-FFF2-40B4-BE49-F238E27FC236}">
                <a16:creationId xmlns:a16="http://schemas.microsoft.com/office/drawing/2014/main" id="{376C141F-0F9B-8342-FFF5-E9C613C44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9322" y="640234"/>
            <a:ext cx="418520" cy="41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6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132</Words>
  <Application>Microsoft Macintosh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De. Ashkezari</dc:creator>
  <cp:lastModifiedBy>Mohammad De. Ashkezari</cp:lastModifiedBy>
  <cp:revision>11</cp:revision>
  <dcterms:created xsi:type="dcterms:W3CDTF">2026-04-05T00:09:41Z</dcterms:created>
  <dcterms:modified xsi:type="dcterms:W3CDTF">2026-04-05T17:44:27Z</dcterms:modified>
</cp:coreProperties>
</file>